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771775" y="219075"/>
            <a:ext cx="9420225" cy="6638925"/>
          </a:xfrm>
          <a:custGeom>
            <a:avLst/>
            <a:gdLst/>
            <a:ahLst/>
            <a:cxnLst/>
            <a:rect l="l" t="t" r="r" b="b"/>
            <a:pathLst>
              <a:path w="9420225" h="6638925">
                <a:moveTo>
                  <a:pt x="5668899" y="0"/>
                </a:moveTo>
                <a:lnTo>
                  <a:pt x="5620281" y="202"/>
                </a:lnTo>
                <a:lnTo>
                  <a:pt x="5571761" y="810"/>
                </a:lnTo>
                <a:lnTo>
                  <a:pt x="5523339" y="1821"/>
                </a:lnTo>
                <a:lnTo>
                  <a:pt x="5475018" y="3233"/>
                </a:lnTo>
                <a:lnTo>
                  <a:pt x="5426799" y="5046"/>
                </a:lnTo>
                <a:lnTo>
                  <a:pt x="5378683" y="7257"/>
                </a:lnTo>
                <a:lnTo>
                  <a:pt x="5330673" y="9864"/>
                </a:lnTo>
                <a:lnTo>
                  <a:pt x="5282769" y="12866"/>
                </a:lnTo>
                <a:lnTo>
                  <a:pt x="5234974" y="16263"/>
                </a:lnTo>
                <a:lnTo>
                  <a:pt x="5187289" y="20050"/>
                </a:lnTo>
                <a:lnTo>
                  <a:pt x="5139716" y="24229"/>
                </a:lnTo>
                <a:lnTo>
                  <a:pt x="5092256" y="28795"/>
                </a:lnTo>
                <a:lnTo>
                  <a:pt x="5044911" y="33749"/>
                </a:lnTo>
                <a:lnTo>
                  <a:pt x="4997682" y="39088"/>
                </a:lnTo>
                <a:lnTo>
                  <a:pt x="4950572" y="44811"/>
                </a:lnTo>
                <a:lnTo>
                  <a:pt x="4903582" y="50917"/>
                </a:lnTo>
                <a:lnTo>
                  <a:pt x="4856713" y="57402"/>
                </a:lnTo>
                <a:lnTo>
                  <a:pt x="4809967" y="64267"/>
                </a:lnTo>
                <a:lnTo>
                  <a:pt x="4763346" y="71509"/>
                </a:lnTo>
                <a:lnTo>
                  <a:pt x="4716851" y="79127"/>
                </a:lnTo>
                <a:lnTo>
                  <a:pt x="4670484" y="87119"/>
                </a:lnTo>
                <a:lnTo>
                  <a:pt x="4624247" y="95484"/>
                </a:lnTo>
                <a:lnTo>
                  <a:pt x="4578140" y="104219"/>
                </a:lnTo>
                <a:lnTo>
                  <a:pt x="4532167" y="113324"/>
                </a:lnTo>
                <a:lnTo>
                  <a:pt x="4486328" y="122796"/>
                </a:lnTo>
                <a:lnTo>
                  <a:pt x="4440625" y="132634"/>
                </a:lnTo>
                <a:lnTo>
                  <a:pt x="4395060" y="142837"/>
                </a:lnTo>
                <a:lnTo>
                  <a:pt x="4349634" y="153403"/>
                </a:lnTo>
                <a:lnTo>
                  <a:pt x="4304349" y="164330"/>
                </a:lnTo>
                <a:lnTo>
                  <a:pt x="4259207" y="175616"/>
                </a:lnTo>
                <a:lnTo>
                  <a:pt x="4214209" y="187260"/>
                </a:lnTo>
                <a:lnTo>
                  <a:pt x="4169356" y="199261"/>
                </a:lnTo>
                <a:lnTo>
                  <a:pt x="4124651" y="211617"/>
                </a:lnTo>
                <a:lnTo>
                  <a:pt x="4080096" y="224325"/>
                </a:lnTo>
                <a:lnTo>
                  <a:pt x="4035690" y="237386"/>
                </a:lnTo>
                <a:lnTo>
                  <a:pt x="3991437" y="250796"/>
                </a:lnTo>
                <a:lnTo>
                  <a:pt x="3947338" y="264554"/>
                </a:lnTo>
                <a:lnTo>
                  <a:pt x="3903395" y="278659"/>
                </a:lnTo>
                <a:lnTo>
                  <a:pt x="3859609" y="293109"/>
                </a:lnTo>
                <a:lnTo>
                  <a:pt x="3815981" y="307903"/>
                </a:lnTo>
                <a:lnTo>
                  <a:pt x="3772514" y="323038"/>
                </a:lnTo>
                <a:lnTo>
                  <a:pt x="3729209" y="338514"/>
                </a:lnTo>
                <a:lnTo>
                  <a:pt x="3686068" y="354328"/>
                </a:lnTo>
                <a:lnTo>
                  <a:pt x="3643092" y="370480"/>
                </a:lnTo>
                <a:lnTo>
                  <a:pt x="3600283" y="386966"/>
                </a:lnTo>
                <a:lnTo>
                  <a:pt x="3557642" y="403787"/>
                </a:lnTo>
                <a:lnTo>
                  <a:pt x="3515171" y="420939"/>
                </a:lnTo>
                <a:lnTo>
                  <a:pt x="3472873" y="438423"/>
                </a:lnTo>
                <a:lnTo>
                  <a:pt x="3430747" y="456235"/>
                </a:lnTo>
                <a:lnTo>
                  <a:pt x="3388797" y="474374"/>
                </a:lnTo>
                <a:lnTo>
                  <a:pt x="3347024" y="492839"/>
                </a:lnTo>
                <a:lnTo>
                  <a:pt x="3305428" y="511629"/>
                </a:lnTo>
                <a:lnTo>
                  <a:pt x="3264013" y="530740"/>
                </a:lnTo>
                <a:lnTo>
                  <a:pt x="3222779" y="550173"/>
                </a:lnTo>
                <a:lnTo>
                  <a:pt x="3181728" y="569925"/>
                </a:lnTo>
                <a:lnTo>
                  <a:pt x="3140862" y="589994"/>
                </a:lnTo>
                <a:lnTo>
                  <a:pt x="3100183" y="610380"/>
                </a:lnTo>
                <a:lnTo>
                  <a:pt x="3059691" y="631079"/>
                </a:lnTo>
                <a:lnTo>
                  <a:pt x="3019389" y="652092"/>
                </a:lnTo>
                <a:lnTo>
                  <a:pt x="2979279" y="673416"/>
                </a:lnTo>
                <a:lnTo>
                  <a:pt x="2939361" y="695049"/>
                </a:lnTo>
                <a:lnTo>
                  <a:pt x="2899638" y="716991"/>
                </a:lnTo>
                <a:lnTo>
                  <a:pt x="2860110" y="739238"/>
                </a:lnTo>
                <a:lnTo>
                  <a:pt x="2820781" y="761791"/>
                </a:lnTo>
                <a:lnTo>
                  <a:pt x="2781651" y="784646"/>
                </a:lnTo>
                <a:lnTo>
                  <a:pt x="2742722" y="807804"/>
                </a:lnTo>
                <a:lnTo>
                  <a:pt x="2703996" y="831260"/>
                </a:lnTo>
                <a:lnTo>
                  <a:pt x="2665474" y="855016"/>
                </a:lnTo>
                <a:lnTo>
                  <a:pt x="2627158" y="879067"/>
                </a:lnTo>
                <a:lnTo>
                  <a:pt x="2589049" y="903414"/>
                </a:lnTo>
                <a:lnTo>
                  <a:pt x="2551149" y="928055"/>
                </a:lnTo>
                <a:lnTo>
                  <a:pt x="2513460" y="952987"/>
                </a:lnTo>
                <a:lnTo>
                  <a:pt x="2475984" y="978209"/>
                </a:lnTo>
                <a:lnTo>
                  <a:pt x="2438722" y="1003720"/>
                </a:lnTo>
                <a:lnTo>
                  <a:pt x="2401675" y="1029518"/>
                </a:lnTo>
                <a:lnTo>
                  <a:pt x="2364845" y="1055601"/>
                </a:lnTo>
                <a:lnTo>
                  <a:pt x="2328234" y="1081968"/>
                </a:lnTo>
                <a:lnTo>
                  <a:pt x="2291844" y="1108617"/>
                </a:lnTo>
                <a:lnTo>
                  <a:pt x="2255676" y="1135547"/>
                </a:lnTo>
                <a:lnTo>
                  <a:pt x="2219732" y="1162756"/>
                </a:lnTo>
                <a:lnTo>
                  <a:pt x="2184013" y="1190241"/>
                </a:lnTo>
                <a:lnTo>
                  <a:pt x="2148521" y="1218003"/>
                </a:lnTo>
                <a:lnTo>
                  <a:pt x="2113257" y="1246038"/>
                </a:lnTo>
                <a:lnTo>
                  <a:pt x="2078224" y="1274347"/>
                </a:lnTo>
                <a:lnTo>
                  <a:pt x="2043423" y="1302925"/>
                </a:lnTo>
                <a:lnTo>
                  <a:pt x="2008855" y="1331773"/>
                </a:lnTo>
                <a:lnTo>
                  <a:pt x="1974522" y="1360889"/>
                </a:lnTo>
                <a:lnTo>
                  <a:pt x="1940426" y="1390271"/>
                </a:lnTo>
                <a:lnTo>
                  <a:pt x="1906569" y="1419917"/>
                </a:lnTo>
                <a:lnTo>
                  <a:pt x="1872951" y="1449826"/>
                </a:lnTo>
                <a:lnTo>
                  <a:pt x="1839575" y="1479996"/>
                </a:lnTo>
                <a:lnTo>
                  <a:pt x="1806442" y="1510425"/>
                </a:lnTo>
                <a:lnTo>
                  <a:pt x="1773554" y="1541113"/>
                </a:lnTo>
                <a:lnTo>
                  <a:pt x="1740912" y="1572056"/>
                </a:lnTo>
                <a:lnTo>
                  <a:pt x="1708519" y="1603255"/>
                </a:lnTo>
                <a:lnTo>
                  <a:pt x="1676375" y="1634706"/>
                </a:lnTo>
                <a:lnTo>
                  <a:pt x="1644483" y="1666409"/>
                </a:lnTo>
                <a:lnTo>
                  <a:pt x="1612843" y="1698362"/>
                </a:lnTo>
                <a:lnTo>
                  <a:pt x="1581459" y="1730563"/>
                </a:lnTo>
                <a:lnTo>
                  <a:pt x="1550330" y="1763011"/>
                </a:lnTo>
                <a:lnTo>
                  <a:pt x="1519459" y="1795704"/>
                </a:lnTo>
                <a:lnTo>
                  <a:pt x="1488848" y="1828640"/>
                </a:lnTo>
                <a:lnTo>
                  <a:pt x="1458498" y="1861818"/>
                </a:lnTo>
                <a:lnTo>
                  <a:pt x="1428410" y="1895236"/>
                </a:lnTo>
                <a:lnTo>
                  <a:pt x="1398587" y="1928892"/>
                </a:lnTo>
                <a:lnTo>
                  <a:pt x="1369029" y="1962786"/>
                </a:lnTo>
                <a:lnTo>
                  <a:pt x="1339740" y="1996915"/>
                </a:lnTo>
                <a:lnTo>
                  <a:pt x="1310719" y="2031277"/>
                </a:lnTo>
                <a:lnTo>
                  <a:pt x="1281970" y="2065872"/>
                </a:lnTo>
                <a:lnTo>
                  <a:pt x="1253492" y="2100697"/>
                </a:lnTo>
                <a:lnTo>
                  <a:pt x="1225289" y="2135751"/>
                </a:lnTo>
                <a:lnTo>
                  <a:pt x="1197362" y="2171033"/>
                </a:lnTo>
                <a:lnTo>
                  <a:pt x="1169712" y="2206540"/>
                </a:lnTo>
                <a:lnTo>
                  <a:pt x="1142340" y="2242271"/>
                </a:lnTo>
                <a:lnTo>
                  <a:pt x="1115250" y="2278224"/>
                </a:lnTo>
                <a:lnTo>
                  <a:pt x="1088441" y="2314398"/>
                </a:lnTo>
                <a:lnTo>
                  <a:pt x="1061917" y="2350792"/>
                </a:lnTo>
                <a:lnTo>
                  <a:pt x="1035678" y="2387403"/>
                </a:lnTo>
                <a:lnTo>
                  <a:pt x="1009725" y="2424230"/>
                </a:lnTo>
                <a:lnTo>
                  <a:pt x="984062" y="2461271"/>
                </a:lnTo>
                <a:lnTo>
                  <a:pt x="958689" y="2498525"/>
                </a:lnTo>
                <a:lnTo>
                  <a:pt x="933608" y="2535990"/>
                </a:lnTo>
                <a:lnTo>
                  <a:pt x="908820" y="2573665"/>
                </a:lnTo>
                <a:lnTo>
                  <a:pt x="884327" y="2611548"/>
                </a:lnTo>
                <a:lnTo>
                  <a:pt x="860132" y="2649636"/>
                </a:lnTo>
                <a:lnTo>
                  <a:pt x="836235" y="2687930"/>
                </a:lnTo>
                <a:lnTo>
                  <a:pt x="812637" y="2726426"/>
                </a:lnTo>
                <a:lnTo>
                  <a:pt x="789342" y="2765124"/>
                </a:lnTo>
                <a:lnTo>
                  <a:pt x="766350" y="2804022"/>
                </a:lnTo>
                <a:lnTo>
                  <a:pt x="743662" y="2843118"/>
                </a:lnTo>
                <a:lnTo>
                  <a:pt x="721281" y="2882411"/>
                </a:lnTo>
                <a:lnTo>
                  <a:pt x="699209" y="2921899"/>
                </a:lnTo>
                <a:lnTo>
                  <a:pt x="677446" y="2961580"/>
                </a:lnTo>
                <a:lnTo>
                  <a:pt x="655995" y="3001452"/>
                </a:lnTo>
                <a:lnTo>
                  <a:pt x="634856" y="3041515"/>
                </a:lnTo>
                <a:lnTo>
                  <a:pt x="614033" y="3081767"/>
                </a:lnTo>
                <a:lnTo>
                  <a:pt x="593525" y="3122205"/>
                </a:lnTo>
                <a:lnTo>
                  <a:pt x="573336" y="3162829"/>
                </a:lnTo>
                <a:lnTo>
                  <a:pt x="553466" y="3203636"/>
                </a:lnTo>
                <a:lnTo>
                  <a:pt x="533917" y="3244625"/>
                </a:lnTo>
                <a:lnTo>
                  <a:pt x="514691" y="3285795"/>
                </a:lnTo>
                <a:lnTo>
                  <a:pt x="495789" y="3327144"/>
                </a:lnTo>
                <a:lnTo>
                  <a:pt x="477214" y="3368670"/>
                </a:lnTo>
                <a:lnTo>
                  <a:pt x="458966" y="3410371"/>
                </a:lnTo>
                <a:lnTo>
                  <a:pt x="441047" y="3452247"/>
                </a:lnTo>
                <a:lnTo>
                  <a:pt x="423459" y="3494295"/>
                </a:lnTo>
                <a:lnTo>
                  <a:pt x="406204" y="3536514"/>
                </a:lnTo>
                <a:lnTo>
                  <a:pt x="389283" y="3578901"/>
                </a:lnTo>
                <a:lnTo>
                  <a:pt x="372697" y="3621457"/>
                </a:lnTo>
                <a:lnTo>
                  <a:pt x="356449" y="3664178"/>
                </a:lnTo>
                <a:lnTo>
                  <a:pt x="340541" y="3707064"/>
                </a:lnTo>
                <a:lnTo>
                  <a:pt x="324972" y="3750112"/>
                </a:lnTo>
                <a:lnTo>
                  <a:pt x="309746" y="3793322"/>
                </a:lnTo>
                <a:lnTo>
                  <a:pt x="294864" y="3836691"/>
                </a:lnTo>
                <a:lnTo>
                  <a:pt x="280327" y="3880217"/>
                </a:lnTo>
                <a:lnTo>
                  <a:pt x="266138" y="3923901"/>
                </a:lnTo>
                <a:lnTo>
                  <a:pt x="252297" y="3967738"/>
                </a:lnTo>
                <a:lnTo>
                  <a:pt x="238807" y="4011729"/>
                </a:lnTo>
                <a:lnTo>
                  <a:pt x="225668" y="4055871"/>
                </a:lnTo>
                <a:lnTo>
                  <a:pt x="212884" y="4100163"/>
                </a:lnTo>
                <a:lnTo>
                  <a:pt x="200454" y="4144603"/>
                </a:lnTo>
                <a:lnTo>
                  <a:pt x="188382" y="4189190"/>
                </a:lnTo>
                <a:lnTo>
                  <a:pt x="176667" y="4233921"/>
                </a:lnTo>
                <a:lnTo>
                  <a:pt x="165313" y="4278796"/>
                </a:lnTo>
                <a:lnTo>
                  <a:pt x="154321" y="4323813"/>
                </a:lnTo>
                <a:lnTo>
                  <a:pt x="143692" y="4368970"/>
                </a:lnTo>
                <a:lnTo>
                  <a:pt x="133428" y="4414265"/>
                </a:lnTo>
                <a:lnTo>
                  <a:pt x="123531" y="4459697"/>
                </a:lnTo>
                <a:lnTo>
                  <a:pt x="114002" y="4505265"/>
                </a:lnTo>
                <a:lnTo>
                  <a:pt x="104843" y="4550966"/>
                </a:lnTo>
                <a:lnTo>
                  <a:pt x="96055" y="4596799"/>
                </a:lnTo>
                <a:lnTo>
                  <a:pt x="87641" y="4642763"/>
                </a:lnTo>
                <a:lnTo>
                  <a:pt x="79601" y="4688855"/>
                </a:lnTo>
                <a:lnTo>
                  <a:pt x="71938" y="4735075"/>
                </a:lnTo>
                <a:lnTo>
                  <a:pt x="64652" y="4781420"/>
                </a:lnTo>
                <a:lnTo>
                  <a:pt x="57746" y="4827889"/>
                </a:lnTo>
                <a:lnTo>
                  <a:pt x="51222" y="4874481"/>
                </a:lnTo>
                <a:lnTo>
                  <a:pt x="45080" y="4921193"/>
                </a:lnTo>
                <a:lnTo>
                  <a:pt x="39322" y="4968024"/>
                </a:lnTo>
                <a:lnTo>
                  <a:pt x="33951" y="5014973"/>
                </a:lnTo>
                <a:lnTo>
                  <a:pt x="28968" y="5062038"/>
                </a:lnTo>
                <a:lnTo>
                  <a:pt x="24374" y="5109217"/>
                </a:lnTo>
                <a:lnTo>
                  <a:pt x="20170" y="5156509"/>
                </a:lnTo>
                <a:lnTo>
                  <a:pt x="16360" y="5203912"/>
                </a:lnTo>
                <a:lnTo>
                  <a:pt x="12944" y="5251424"/>
                </a:lnTo>
                <a:lnTo>
                  <a:pt x="9923" y="5299044"/>
                </a:lnTo>
                <a:lnTo>
                  <a:pt x="7300" y="5346770"/>
                </a:lnTo>
                <a:lnTo>
                  <a:pt x="5076" y="5394601"/>
                </a:lnTo>
                <a:lnTo>
                  <a:pt x="3253" y="5442535"/>
                </a:lnTo>
                <a:lnTo>
                  <a:pt x="1832" y="5490571"/>
                </a:lnTo>
                <a:lnTo>
                  <a:pt x="815" y="5538706"/>
                </a:lnTo>
                <a:lnTo>
                  <a:pt x="204" y="5586939"/>
                </a:lnTo>
                <a:lnTo>
                  <a:pt x="0" y="5635269"/>
                </a:lnTo>
                <a:lnTo>
                  <a:pt x="231" y="5686704"/>
                </a:lnTo>
                <a:lnTo>
                  <a:pt x="925" y="5738029"/>
                </a:lnTo>
                <a:lnTo>
                  <a:pt x="2078" y="5789243"/>
                </a:lnTo>
                <a:lnTo>
                  <a:pt x="3689" y="5840345"/>
                </a:lnTo>
                <a:lnTo>
                  <a:pt x="5755" y="5891330"/>
                </a:lnTo>
                <a:lnTo>
                  <a:pt x="8274" y="5942199"/>
                </a:lnTo>
                <a:lnTo>
                  <a:pt x="11245" y="5992949"/>
                </a:lnTo>
                <a:lnTo>
                  <a:pt x="14664" y="6043577"/>
                </a:lnTo>
                <a:lnTo>
                  <a:pt x="18530" y="6094083"/>
                </a:lnTo>
                <a:lnTo>
                  <a:pt x="22840" y="6144463"/>
                </a:lnTo>
                <a:lnTo>
                  <a:pt x="27593" y="6194716"/>
                </a:lnTo>
                <a:lnTo>
                  <a:pt x="32786" y="6244841"/>
                </a:lnTo>
                <a:lnTo>
                  <a:pt x="38417" y="6294834"/>
                </a:lnTo>
                <a:lnTo>
                  <a:pt x="44484" y="6344694"/>
                </a:lnTo>
                <a:lnTo>
                  <a:pt x="50984" y="6394420"/>
                </a:lnTo>
                <a:lnTo>
                  <a:pt x="57916" y="6444009"/>
                </a:lnTo>
                <a:lnTo>
                  <a:pt x="65277" y="6493459"/>
                </a:lnTo>
                <a:lnTo>
                  <a:pt x="91439" y="6638924"/>
                </a:lnTo>
                <a:lnTo>
                  <a:pt x="9420225" y="6638924"/>
                </a:lnTo>
                <a:lnTo>
                  <a:pt x="9420225" y="1411986"/>
                </a:lnTo>
                <a:lnTo>
                  <a:pt x="9274810" y="1286764"/>
                </a:lnTo>
                <a:lnTo>
                  <a:pt x="9236984" y="1256003"/>
                </a:lnTo>
                <a:lnTo>
                  <a:pt x="9198888" y="1225560"/>
                </a:lnTo>
                <a:lnTo>
                  <a:pt x="9160523" y="1195439"/>
                </a:lnTo>
                <a:lnTo>
                  <a:pt x="9121892" y="1165640"/>
                </a:lnTo>
                <a:lnTo>
                  <a:pt x="9082997" y="1136166"/>
                </a:lnTo>
                <a:lnTo>
                  <a:pt x="9043840" y="1107019"/>
                </a:lnTo>
                <a:lnTo>
                  <a:pt x="9004422" y="1078200"/>
                </a:lnTo>
                <a:lnTo>
                  <a:pt x="8964747" y="1049713"/>
                </a:lnTo>
                <a:lnTo>
                  <a:pt x="8924815" y="1021559"/>
                </a:lnTo>
                <a:lnTo>
                  <a:pt x="8884629" y="993739"/>
                </a:lnTo>
                <a:lnTo>
                  <a:pt x="8844191" y="966257"/>
                </a:lnTo>
                <a:lnTo>
                  <a:pt x="8803504" y="939114"/>
                </a:lnTo>
                <a:lnTo>
                  <a:pt x="8762569" y="912312"/>
                </a:lnTo>
                <a:lnTo>
                  <a:pt x="8721387" y="885854"/>
                </a:lnTo>
                <a:lnTo>
                  <a:pt x="8679963" y="859740"/>
                </a:lnTo>
                <a:lnTo>
                  <a:pt x="8638296" y="833974"/>
                </a:lnTo>
                <a:lnTo>
                  <a:pt x="8596390" y="808557"/>
                </a:lnTo>
                <a:lnTo>
                  <a:pt x="8554247" y="783492"/>
                </a:lnTo>
                <a:lnTo>
                  <a:pt x="8511868" y="758780"/>
                </a:lnTo>
                <a:lnTo>
                  <a:pt x="8469255" y="734423"/>
                </a:lnTo>
                <a:lnTo>
                  <a:pt x="8426411" y="710425"/>
                </a:lnTo>
                <a:lnTo>
                  <a:pt x="8383339" y="686785"/>
                </a:lnTo>
                <a:lnTo>
                  <a:pt x="8340038" y="663508"/>
                </a:lnTo>
                <a:lnTo>
                  <a:pt x="8296513" y="640594"/>
                </a:lnTo>
                <a:lnTo>
                  <a:pt x="8252765" y="618045"/>
                </a:lnTo>
                <a:lnTo>
                  <a:pt x="8208795" y="595865"/>
                </a:lnTo>
                <a:lnTo>
                  <a:pt x="8164607" y="574054"/>
                </a:lnTo>
                <a:lnTo>
                  <a:pt x="8120201" y="552615"/>
                </a:lnTo>
                <a:lnTo>
                  <a:pt x="8075581" y="531550"/>
                </a:lnTo>
                <a:lnTo>
                  <a:pt x="8030748" y="510861"/>
                </a:lnTo>
                <a:lnTo>
                  <a:pt x="7985704" y="490550"/>
                </a:lnTo>
                <a:lnTo>
                  <a:pt x="7940452" y="470619"/>
                </a:lnTo>
                <a:lnTo>
                  <a:pt x="7894993" y="451070"/>
                </a:lnTo>
                <a:lnTo>
                  <a:pt x="7849329" y="431905"/>
                </a:lnTo>
                <a:lnTo>
                  <a:pt x="7803463" y="413127"/>
                </a:lnTo>
                <a:lnTo>
                  <a:pt x="7757397" y="394737"/>
                </a:lnTo>
                <a:lnTo>
                  <a:pt x="7711132" y="376736"/>
                </a:lnTo>
                <a:lnTo>
                  <a:pt x="7664671" y="359129"/>
                </a:lnTo>
                <a:lnTo>
                  <a:pt x="7618015" y="341915"/>
                </a:lnTo>
                <a:lnTo>
                  <a:pt x="7571167" y="325098"/>
                </a:lnTo>
                <a:lnTo>
                  <a:pt x="7524130" y="308680"/>
                </a:lnTo>
                <a:lnTo>
                  <a:pt x="7476904" y="292662"/>
                </a:lnTo>
                <a:lnTo>
                  <a:pt x="7429492" y="277046"/>
                </a:lnTo>
                <a:lnTo>
                  <a:pt x="7381896" y="261835"/>
                </a:lnTo>
                <a:lnTo>
                  <a:pt x="7334119" y="247031"/>
                </a:lnTo>
                <a:lnTo>
                  <a:pt x="7286161" y="232635"/>
                </a:lnTo>
                <a:lnTo>
                  <a:pt x="7238026" y="218650"/>
                </a:lnTo>
                <a:lnTo>
                  <a:pt x="7189715" y="205078"/>
                </a:lnTo>
                <a:lnTo>
                  <a:pt x="7141230" y="191921"/>
                </a:lnTo>
                <a:lnTo>
                  <a:pt x="7092574" y="179180"/>
                </a:lnTo>
                <a:lnTo>
                  <a:pt x="7043748" y="166859"/>
                </a:lnTo>
                <a:lnTo>
                  <a:pt x="6994755" y="154958"/>
                </a:lnTo>
                <a:lnTo>
                  <a:pt x="6945596" y="143481"/>
                </a:lnTo>
                <a:lnTo>
                  <a:pt x="6896274" y="132428"/>
                </a:lnTo>
                <a:lnTo>
                  <a:pt x="6846791" y="121803"/>
                </a:lnTo>
                <a:lnTo>
                  <a:pt x="6797149" y="111606"/>
                </a:lnTo>
                <a:lnTo>
                  <a:pt x="6747349" y="101841"/>
                </a:lnTo>
                <a:lnTo>
                  <a:pt x="6697394" y="92509"/>
                </a:lnTo>
                <a:lnTo>
                  <a:pt x="6647286" y="83613"/>
                </a:lnTo>
                <a:lnTo>
                  <a:pt x="6597028" y="75153"/>
                </a:lnTo>
                <a:lnTo>
                  <a:pt x="6546620" y="67133"/>
                </a:lnTo>
                <a:lnTo>
                  <a:pt x="6496065" y="59555"/>
                </a:lnTo>
                <a:lnTo>
                  <a:pt x="6445366" y="52420"/>
                </a:lnTo>
                <a:lnTo>
                  <a:pt x="6394524" y="45730"/>
                </a:lnTo>
                <a:lnTo>
                  <a:pt x="6343541" y="39488"/>
                </a:lnTo>
                <a:lnTo>
                  <a:pt x="6292419" y="33696"/>
                </a:lnTo>
                <a:lnTo>
                  <a:pt x="6241161" y="28355"/>
                </a:lnTo>
                <a:lnTo>
                  <a:pt x="6189769" y="23468"/>
                </a:lnTo>
                <a:lnTo>
                  <a:pt x="6138244" y="19037"/>
                </a:lnTo>
                <a:lnTo>
                  <a:pt x="6086588" y="15063"/>
                </a:lnTo>
                <a:lnTo>
                  <a:pt x="6034805" y="11549"/>
                </a:lnTo>
                <a:lnTo>
                  <a:pt x="5982895" y="8497"/>
                </a:lnTo>
                <a:lnTo>
                  <a:pt x="5930860" y="5909"/>
                </a:lnTo>
                <a:lnTo>
                  <a:pt x="5878704" y="3787"/>
                </a:lnTo>
                <a:lnTo>
                  <a:pt x="5826428" y="2133"/>
                </a:lnTo>
                <a:lnTo>
                  <a:pt x="5774033" y="949"/>
                </a:lnTo>
                <a:lnTo>
                  <a:pt x="5721523" y="237"/>
                </a:lnTo>
                <a:lnTo>
                  <a:pt x="56688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209800" y="2095500"/>
            <a:ext cx="1943100" cy="1895475"/>
          </a:xfrm>
          <a:custGeom>
            <a:avLst/>
            <a:gdLst/>
            <a:ahLst/>
            <a:cxnLst/>
            <a:rect l="l" t="t" r="r" b="b"/>
            <a:pathLst>
              <a:path w="1943100" h="1895475">
                <a:moveTo>
                  <a:pt x="971550" y="0"/>
                </a:moveTo>
                <a:lnTo>
                  <a:pt x="923059" y="1159"/>
                </a:lnTo>
                <a:lnTo>
                  <a:pt x="875184" y="4603"/>
                </a:lnTo>
                <a:lnTo>
                  <a:pt x="827980" y="10275"/>
                </a:lnTo>
                <a:lnTo>
                  <a:pt x="781503" y="18123"/>
                </a:lnTo>
                <a:lnTo>
                  <a:pt x="735809" y="28090"/>
                </a:lnTo>
                <a:lnTo>
                  <a:pt x="690952" y="40125"/>
                </a:lnTo>
                <a:lnTo>
                  <a:pt x="646989" y="54171"/>
                </a:lnTo>
                <a:lnTo>
                  <a:pt x="603976" y="70175"/>
                </a:lnTo>
                <a:lnTo>
                  <a:pt x="561967" y="88082"/>
                </a:lnTo>
                <a:lnTo>
                  <a:pt x="521020" y="107838"/>
                </a:lnTo>
                <a:lnTo>
                  <a:pt x="481188" y="129389"/>
                </a:lnTo>
                <a:lnTo>
                  <a:pt x="442529" y="152680"/>
                </a:lnTo>
                <a:lnTo>
                  <a:pt x="405098" y="177658"/>
                </a:lnTo>
                <a:lnTo>
                  <a:pt x="368949" y="204267"/>
                </a:lnTo>
                <a:lnTo>
                  <a:pt x="334140" y="232454"/>
                </a:lnTo>
                <a:lnTo>
                  <a:pt x="300726" y="262165"/>
                </a:lnTo>
                <a:lnTo>
                  <a:pt x="268762" y="293344"/>
                </a:lnTo>
                <a:lnTo>
                  <a:pt x="238303" y="325937"/>
                </a:lnTo>
                <a:lnTo>
                  <a:pt x="209407" y="359891"/>
                </a:lnTo>
                <a:lnTo>
                  <a:pt x="182128" y="395152"/>
                </a:lnTo>
                <a:lnTo>
                  <a:pt x="156522" y="431663"/>
                </a:lnTo>
                <a:lnTo>
                  <a:pt x="132644" y="469373"/>
                </a:lnTo>
                <a:lnTo>
                  <a:pt x="110551" y="508225"/>
                </a:lnTo>
                <a:lnTo>
                  <a:pt x="90297" y="548166"/>
                </a:lnTo>
                <a:lnTo>
                  <a:pt x="71940" y="589142"/>
                </a:lnTo>
                <a:lnTo>
                  <a:pt x="55533" y="631098"/>
                </a:lnTo>
                <a:lnTo>
                  <a:pt x="41134" y="673980"/>
                </a:lnTo>
                <a:lnTo>
                  <a:pt x="28797" y="717733"/>
                </a:lnTo>
                <a:lnTo>
                  <a:pt x="18578" y="762304"/>
                </a:lnTo>
                <a:lnTo>
                  <a:pt x="10534" y="807637"/>
                </a:lnTo>
                <a:lnTo>
                  <a:pt x="4718" y="853680"/>
                </a:lnTo>
                <a:lnTo>
                  <a:pt x="1189" y="900377"/>
                </a:lnTo>
                <a:lnTo>
                  <a:pt x="0" y="947674"/>
                </a:lnTo>
                <a:lnTo>
                  <a:pt x="1189" y="994982"/>
                </a:lnTo>
                <a:lnTo>
                  <a:pt x="4718" y="1041689"/>
                </a:lnTo>
                <a:lnTo>
                  <a:pt x="10534" y="1087741"/>
                </a:lnTo>
                <a:lnTo>
                  <a:pt x="18578" y="1133084"/>
                </a:lnTo>
                <a:lnTo>
                  <a:pt x="28797" y="1177663"/>
                </a:lnTo>
                <a:lnTo>
                  <a:pt x="41134" y="1221425"/>
                </a:lnTo>
                <a:lnTo>
                  <a:pt x="55533" y="1264314"/>
                </a:lnTo>
                <a:lnTo>
                  <a:pt x="71940" y="1306277"/>
                </a:lnTo>
                <a:lnTo>
                  <a:pt x="90297" y="1347259"/>
                </a:lnTo>
                <a:lnTo>
                  <a:pt x="110551" y="1387206"/>
                </a:lnTo>
                <a:lnTo>
                  <a:pt x="132644" y="1426064"/>
                </a:lnTo>
                <a:lnTo>
                  <a:pt x="156522" y="1463778"/>
                </a:lnTo>
                <a:lnTo>
                  <a:pt x="182128" y="1500294"/>
                </a:lnTo>
                <a:lnTo>
                  <a:pt x="209407" y="1535558"/>
                </a:lnTo>
                <a:lnTo>
                  <a:pt x="238303" y="1569516"/>
                </a:lnTo>
                <a:lnTo>
                  <a:pt x="268762" y="1602113"/>
                </a:lnTo>
                <a:lnTo>
                  <a:pt x="300726" y="1633295"/>
                </a:lnTo>
                <a:lnTo>
                  <a:pt x="334140" y="1663008"/>
                </a:lnTo>
                <a:lnTo>
                  <a:pt x="368949" y="1691197"/>
                </a:lnTo>
                <a:lnTo>
                  <a:pt x="405098" y="1717808"/>
                </a:lnTo>
                <a:lnTo>
                  <a:pt x="442529" y="1742787"/>
                </a:lnTo>
                <a:lnTo>
                  <a:pt x="481188" y="1766080"/>
                </a:lnTo>
                <a:lnTo>
                  <a:pt x="521020" y="1787632"/>
                </a:lnTo>
                <a:lnTo>
                  <a:pt x="561967" y="1807390"/>
                </a:lnTo>
                <a:lnTo>
                  <a:pt x="603976" y="1825298"/>
                </a:lnTo>
                <a:lnTo>
                  <a:pt x="646989" y="1841302"/>
                </a:lnTo>
                <a:lnTo>
                  <a:pt x="690952" y="1855349"/>
                </a:lnTo>
                <a:lnTo>
                  <a:pt x="735809" y="1867383"/>
                </a:lnTo>
                <a:lnTo>
                  <a:pt x="781503" y="1877351"/>
                </a:lnTo>
                <a:lnTo>
                  <a:pt x="827980" y="1885199"/>
                </a:lnTo>
                <a:lnTo>
                  <a:pt x="875184" y="1890871"/>
                </a:lnTo>
                <a:lnTo>
                  <a:pt x="923059" y="1894315"/>
                </a:lnTo>
                <a:lnTo>
                  <a:pt x="971550" y="1895475"/>
                </a:lnTo>
                <a:lnTo>
                  <a:pt x="1020040" y="1894315"/>
                </a:lnTo>
                <a:lnTo>
                  <a:pt x="1067915" y="1890871"/>
                </a:lnTo>
                <a:lnTo>
                  <a:pt x="1115119" y="1885199"/>
                </a:lnTo>
                <a:lnTo>
                  <a:pt x="1161596" y="1877351"/>
                </a:lnTo>
                <a:lnTo>
                  <a:pt x="1207290" y="1867383"/>
                </a:lnTo>
                <a:lnTo>
                  <a:pt x="1252147" y="1855349"/>
                </a:lnTo>
                <a:lnTo>
                  <a:pt x="1296110" y="1841302"/>
                </a:lnTo>
                <a:lnTo>
                  <a:pt x="1339123" y="1825298"/>
                </a:lnTo>
                <a:lnTo>
                  <a:pt x="1381132" y="1807390"/>
                </a:lnTo>
                <a:lnTo>
                  <a:pt x="1422079" y="1787632"/>
                </a:lnTo>
                <a:lnTo>
                  <a:pt x="1461911" y="1766080"/>
                </a:lnTo>
                <a:lnTo>
                  <a:pt x="1500570" y="1742787"/>
                </a:lnTo>
                <a:lnTo>
                  <a:pt x="1538001" y="1717808"/>
                </a:lnTo>
                <a:lnTo>
                  <a:pt x="1574150" y="1691197"/>
                </a:lnTo>
                <a:lnTo>
                  <a:pt x="1608959" y="1663008"/>
                </a:lnTo>
                <a:lnTo>
                  <a:pt x="1642373" y="1633295"/>
                </a:lnTo>
                <a:lnTo>
                  <a:pt x="1674337" y="1602113"/>
                </a:lnTo>
                <a:lnTo>
                  <a:pt x="1704796" y="1569516"/>
                </a:lnTo>
                <a:lnTo>
                  <a:pt x="1733692" y="1535558"/>
                </a:lnTo>
                <a:lnTo>
                  <a:pt x="1760971" y="1500294"/>
                </a:lnTo>
                <a:lnTo>
                  <a:pt x="1786577" y="1463778"/>
                </a:lnTo>
                <a:lnTo>
                  <a:pt x="1810455" y="1426064"/>
                </a:lnTo>
                <a:lnTo>
                  <a:pt x="1832548" y="1387206"/>
                </a:lnTo>
                <a:lnTo>
                  <a:pt x="1852802" y="1347259"/>
                </a:lnTo>
                <a:lnTo>
                  <a:pt x="1871159" y="1306277"/>
                </a:lnTo>
                <a:lnTo>
                  <a:pt x="1887566" y="1264314"/>
                </a:lnTo>
                <a:lnTo>
                  <a:pt x="1901965" y="1221425"/>
                </a:lnTo>
                <a:lnTo>
                  <a:pt x="1914302" y="1177663"/>
                </a:lnTo>
                <a:lnTo>
                  <a:pt x="1924521" y="1133084"/>
                </a:lnTo>
                <a:lnTo>
                  <a:pt x="1932565" y="1087741"/>
                </a:lnTo>
                <a:lnTo>
                  <a:pt x="1938381" y="1041689"/>
                </a:lnTo>
                <a:lnTo>
                  <a:pt x="1941910" y="994982"/>
                </a:lnTo>
                <a:lnTo>
                  <a:pt x="1943100" y="947674"/>
                </a:lnTo>
                <a:lnTo>
                  <a:pt x="1941910" y="900377"/>
                </a:lnTo>
                <a:lnTo>
                  <a:pt x="1938381" y="853680"/>
                </a:lnTo>
                <a:lnTo>
                  <a:pt x="1932565" y="807637"/>
                </a:lnTo>
                <a:lnTo>
                  <a:pt x="1924521" y="762304"/>
                </a:lnTo>
                <a:lnTo>
                  <a:pt x="1914302" y="717733"/>
                </a:lnTo>
                <a:lnTo>
                  <a:pt x="1901965" y="673980"/>
                </a:lnTo>
                <a:lnTo>
                  <a:pt x="1887566" y="631098"/>
                </a:lnTo>
                <a:lnTo>
                  <a:pt x="1871159" y="589142"/>
                </a:lnTo>
                <a:lnTo>
                  <a:pt x="1852802" y="548166"/>
                </a:lnTo>
                <a:lnTo>
                  <a:pt x="1832548" y="508225"/>
                </a:lnTo>
                <a:lnTo>
                  <a:pt x="1810455" y="469373"/>
                </a:lnTo>
                <a:lnTo>
                  <a:pt x="1786577" y="431663"/>
                </a:lnTo>
                <a:lnTo>
                  <a:pt x="1760971" y="395152"/>
                </a:lnTo>
                <a:lnTo>
                  <a:pt x="1733692" y="359891"/>
                </a:lnTo>
                <a:lnTo>
                  <a:pt x="1704796" y="325937"/>
                </a:lnTo>
                <a:lnTo>
                  <a:pt x="1674337" y="293344"/>
                </a:lnTo>
                <a:lnTo>
                  <a:pt x="1642373" y="262165"/>
                </a:lnTo>
                <a:lnTo>
                  <a:pt x="1608959" y="232454"/>
                </a:lnTo>
                <a:lnTo>
                  <a:pt x="1574150" y="204267"/>
                </a:lnTo>
                <a:lnTo>
                  <a:pt x="1538001" y="177658"/>
                </a:lnTo>
                <a:lnTo>
                  <a:pt x="1500570" y="152680"/>
                </a:lnTo>
                <a:lnTo>
                  <a:pt x="1461911" y="129389"/>
                </a:lnTo>
                <a:lnTo>
                  <a:pt x="1422079" y="107838"/>
                </a:lnTo>
                <a:lnTo>
                  <a:pt x="1381132" y="88082"/>
                </a:lnTo>
                <a:lnTo>
                  <a:pt x="1339123" y="70175"/>
                </a:lnTo>
                <a:lnTo>
                  <a:pt x="1296110" y="54171"/>
                </a:lnTo>
                <a:lnTo>
                  <a:pt x="1252147" y="40125"/>
                </a:lnTo>
                <a:lnTo>
                  <a:pt x="1207290" y="28090"/>
                </a:lnTo>
                <a:lnTo>
                  <a:pt x="1161596" y="18123"/>
                </a:lnTo>
                <a:lnTo>
                  <a:pt x="1115119" y="10275"/>
                </a:lnTo>
                <a:lnTo>
                  <a:pt x="1067915" y="4603"/>
                </a:lnTo>
                <a:lnTo>
                  <a:pt x="1020040" y="1159"/>
                </a:lnTo>
                <a:lnTo>
                  <a:pt x="971550" y="0"/>
                </a:lnTo>
                <a:close/>
              </a:path>
            </a:pathLst>
          </a:custGeom>
          <a:solidFill>
            <a:srgbClr val="0E9E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634108" y="1492377"/>
            <a:ext cx="2481580" cy="1245235"/>
          </a:xfrm>
          <a:custGeom>
            <a:avLst/>
            <a:gdLst/>
            <a:ahLst/>
            <a:cxnLst/>
            <a:rect l="l" t="t" r="r" b="b"/>
            <a:pathLst>
              <a:path w="2481579" h="1245235">
                <a:moveTo>
                  <a:pt x="0" y="1245107"/>
                </a:moveTo>
                <a:lnTo>
                  <a:pt x="8809" y="1197560"/>
                </a:lnTo>
                <a:lnTo>
                  <a:pt x="19053" y="1150644"/>
                </a:lnTo>
                <a:lnTo>
                  <a:pt x="30706" y="1104379"/>
                </a:lnTo>
                <a:lnTo>
                  <a:pt x="43740" y="1058784"/>
                </a:lnTo>
                <a:lnTo>
                  <a:pt x="58128" y="1013877"/>
                </a:lnTo>
                <a:lnTo>
                  <a:pt x="73845" y="969678"/>
                </a:lnTo>
                <a:lnTo>
                  <a:pt x="90863" y="926205"/>
                </a:lnTo>
                <a:lnTo>
                  <a:pt x="109155" y="883478"/>
                </a:lnTo>
                <a:lnTo>
                  <a:pt x="128695" y="841515"/>
                </a:lnTo>
                <a:lnTo>
                  <a:pt x="149455" y="800336"/>
                </a:lnTo>
                <a:lnTo>
                  <a:pt x="171411" y="759960"/>
                </a:lnTo>
                <a:lnTo>
                  <a:pt x="194533" y="720405"/>
                </a:lnTo>
                <a:lnTo>
                  <a:pt x="218797" y="681691"/>
                </a:lnTo>
                <a:lnTo>
                  <a:pt x="244174" y="643836"/>
                </a:lnTo>
                <a:lnTo>
                  <a:pt x="270639" y="606860"/>
                </a:lnTo>
                <a:lnTo>
                  <a:pt x="298164" y="570781"/>
                </a:lnTo>
                <a:lnTo>
                  <a:pt x="326723" y="535619"/>
                </a:lnTo>
                <a:lnTo>
                  <a:pt x="356290" y="501392"/>
                </a:lnTo>
                <a:lnTo>
                  <a:pt x="386837" y="468120"/>
                </a:lnTo>
                <a:lnTo>
                  <a:pt x="418337" y="435822"/>
                </a:lnTo>
                <a:lnTo>
                  <a:pt x="450764" y="404516"/>
                </a:lnTo>
                <a:lnTo>
                  <a:pt x="484092" y="374221"/>
                </a:lnTo>
                <a:lnTo>
                  <a:pt x="518292" y="344957"/>
                </a:lnTo>
                <a:lnTo>
                  <a:pt x="553340" y="316742"/>
                </a:lnTo>
                <a:lnTo>
                  <a:pt x="589208" y="289596"/>
                </a:lnTo>
                <a:lnTo>
                  <a:pt x="625868" y="263538"/>
                </a:lnTo>
                <a:lnTo>
                  <a:pt x="663296" y="238586"/>
                </a:lnTo>
                <a:lnTo>
                  <a:pt x="701463" y="214760"/>
                </a:lnTo>
                <a:lnTo>
                  <a:pt x="740343" y="192078"/>
                </a:lnTo>
                <a:lnTo>
                  <a:pt x="779909" y="170559"/>
                </a:lnTo>
                <a:lnTo>
                  <a:pt x="820135" y="150223"/>
                </a:lnTo>
                <a:lnTo>
                  <a:pt x="860994" y="131089"/>
                </a:lnTo>
                <a:lnTo>
                  <a:pt x="902459" y="113174"/>
                </a:lnTo>
                <a:lnTo>
                  <a:pt x="944503" y="96500"/>
                </a:lnTo>
                <a:lnTo>
                  <a:pt x="987100" y="81084"/>
                </a:lnTo>
                <a:lnTo>
                  <a:pt x="1030223" y="66945"/>
                </a:lnTo>
                <a:lnTo>
                  <a:pt x="1073845" y="54103"/>
                </a:lnTo>
                <a:lnTo>
                  <a:pt x="1117939" y="42576"/>
                </a:lnTo>
                <a:lnTo>
                  <a:pt x="1162479" y="32384"/>
                </a:lnTo>
                <a:lnTo>
                  <a:pt x="1207438" y="23545"/>
                </a:lnTo>
                <a:lnTo>
                  <a:pt x="1252790" y="16079"/>
                </a:lnTo>
                <a:lnTo>
                  <a:pt x="1298506" y="10004"/>
                </a:lnTo>
                <a:lnTo>
                  <a:pt x="1344562" y="5340"/>
                </a:lnTo>
                <a:lnTo>
                  <a:pt x="1390929" y="2105"/>
                </a:lnTo>
                <a:lnTo>
                  <a:pt x="1437582" y="319"/>
                </a:lnTo>
                <a:lnTo>
                  <a:pt x="1484493" y="0"/>
                </a:lnTo>
                <a:lnTo>
                  <a:pt x="1531636" y="1167"/>
                </a:lnTo>
                <a:lnTo>
                  <a:pt x="1578985" y="3840"/>
                </a:lnTo>
                <a:lnTo>
                  <a:pt x="1626511" y="8037"/>
                </a:lnTo>
                <a:lnTo>
                  <a:pt x="1674189" y="13778"/>
                </a:lnTo>
                <a:lnTo>
                  <a:pt x="1721993" y="21081"/>
                </a:lnTo>
                <a:lnTo>
                  <a:pt x="1771847" y="30388"/>
                </a:lnTo>
                <a:lnTo>
                  <a:pt x="1821249" y="41353"/>
                </a:lnTo>
                <a:lnTo>
                  <a:pt x="1870159" y="53957"/>
                </a:lnTo>
                <a:lnTo>
                  <a:pt x="1918539" y="68183"/>
                </a:lnTo>
                <a:lnTo>
                  <a:pt x="1966350" y="84010"/>
                </a:lnTo>
                <a:lnTo>
                  <a:pt x="2013553" y="101420"/>
                </a:lnTo>
                <a:lnTo>
                  <a:pt x="2060109" y="120394"/>
                </a:lnTo>
                <a:lnTo>
                  <a:pt x="2105980" y="140914"/>
                </a:lnTo>
                <a:lnTo>
                  <a:pt x="2151127" y="162961"/>
                </a:lnTo>
                <a:lnTo>
                  <a:pt x="2195511" y="186516"/>
                </a:lnTo>
                <a:lnTo>
                  <a:pt x="2239093" y="211560"/>
                </a:lnTo>
                <a:lnTo>
                  <a:pt x="2281835" y="238074"/>
                </a:lnTo>
                <a:lnTo>
                  <a:pt x="2323697" y="266041"/>
                </a:lnTo>
                <a:lnTo>
                  <a:pt x="2364642" y="295440"/>
                </a:lnTo>
                <a:lnTo>
                  <a:pt x="2404630" y="326253"/>
                </a:lnTo>
                <a:lnTo>
                  <a:pt x="2443622" y="358462"/>
                </a:lnTo>
                <a:lnTo>
                  <a:pt x="2481580" y="392048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171950" cy="6858000"/>
          </a:xfrm>
          <a:custGeom>
            <a:avLst/>
            <a:gdLst/>
            <a:ahLst/>
            <a:cxnLst/>
            <a:rect l="l" t="t" r="r" b="b"/>
            <a:pathLst>
              <a:path w="4171950" h="6858000">
                <a:moveTo>
                  <a:pt x="2262124" y="0"/>
                </a:moveTo>
                <a:lnTo>
                  <a:pt x="0" y="0"/>
                </a:lnTo>
                <a:lnTo>
                  <a:pt x="0" y="6857999"/>
                </a:lnTo>
                <a:lnTo>
                  <a:pt x="2262124" y="6857999"/>
                </a:lnTo>
                <a:lnTo>
                  <a:pt x="2390521" y="6775778"/>
                </a:lnTo>
                <a:lnTo>
                  <a:pt x="2430159" y="6748686"/>
                </a:lnTo>
                <a:lnTo>
                  <a:pt x="2469457" y="6721137"/>
                </a:lnTo>
                <a:lnTo>
                  <a:pt x="2508411" y="6693136"/>
                </a:lnTo>
                <a:lnTo>
                  <a:pt x="2547016" y="6664686"/>
                </a:lnTo>
                <a:lnTo>
                  <a:pt x="2585269" y="6635792"/>
                </a:lnTo>
                <a:lnTo>
                  <a:pt x="2623167" y="6606457"/>
                </a:lnTo>
                <a:lnTo>
                  <a:pt x="2660705" y="6576685"/>
                </a:lnTo>
                <a:lnTo>
                  <a:pt x="2697880" y="6546479"/>
                </a:lnTo>
                <a:lnTo>
                  <a:pt x="2734687" y="6515844"/>
                </a:lnTo>
                <a:lnTo>
                  <a:pt x="2771123" y="6484784"/>
                </a:lnTo>
                <a:lnTo>
                  <a:pt x="2807185" y="6453301"/>
                </a:lnTo>
                <a:lnTo>
                  <a:pt x="2842867" y="6421401"/>
                </a:lnTo>
                <a:lnTo>
                  <a:pt x="2878168" y="6389086"/>
                </a:lnTo>
                <a:lnTo>
                  <a:pt x="2913081" y="6356362"/>
                </a:lnTo>
                <a:lnTo>
                  <a:pt x="2947605" y="6323230"/>
                </a:lnTo>
                <a:lnTo>
                  <a:pt x="2981734" y="6289696"/>
                </a:lnTo>
                <a:lnTo>
                  <a:pt x="3015466" y="6255763"/>
                </a:lnTo>
                <a:lnTo>
                  <a:pt x="3048796" y="6221435"/>
                </a:lnTo>
                <a:lnTo>
                  <a:pt x="3081721" y="6186716"/>
                </a:lnTo>
                <a:lnTo>
                  <a:pt x="3114236" y="6151609"/>
                </a:lnTo>
                <a:lnTo>
                  <a:pt x="3146338" y="6116118"/>
                </a:lnTo>
                <a:lnTo>
                  <a:pt x="3178023" y="6080248"/>
                </a:lnTo>
                <a:lnTo>
                  <a:pt x="3209288" y="6044002"/>
                </a:lnTo>
                <a:lnTo>
                  <a:pt x="3240128" y="6007384"/>
                </a:lnTo>
                <a:lnTo>
                  <a:pt x="3270539" y="5970397"/>
                </a:lnTo>
                <a:lnTo>
                  <a:pt x="3300519" y="5933046"/>
                </a:lnTo>
                <a:lnTo>
                  <a:pt x="3330062" y="5895333"/>
                </a:lnTo>
                <a:lnTo>
                  <a:pt x="3359165" y="5857265"/>
                </a:lnTo>
                <a:lnTo>
                  <a:pt x="3387825" y="5818842"/>
                </a:lnTo>
                <a:lnTo>
                  <a:pt x="3416037" y="5780071"/>
                </a:lnTo>
                <a:lnTo>
                  <a:pt x="3443798" y="5740954"/>
                </a:lnTo>
                <a:lnTo>
                  <a:pt x="3471104" y="5701496"/>
                </a:lnTo>
                <a:lnTo>
                  <a:pt x="3497950" y="5661700"/>
                </a:lnTo>
                <a:lnTo>
                  <a:pt x="3524334" y="5621569"/>
                </a:lnTo>
                <a:lnTo>
                  <a:pt x="3550252" y="5581109"/>
                </a:lnTo>
                <a:lnTo>
                  <a:pt x="3575698" y="5540322"/>
                </a:lnTo>
                <a:lnTo>
                  <a:pt x="3600671" y="5499213"/>
                </a:lnTo>
                <a:lnTo>
                  <a:pt x="3625166" y="5457784"/>
                </a:lnTo>
                <a:lnTo>
                  <a:pt x="3649178" y="5416041"/>
                </a:lnTo>
                <a:lnTo>
                  <a:pt x="3672705" y="5373987"/>
                </a:lnTo>
                <a:lnTo>
                  <a:pt x="3695743" y="5331626"/>
                </a:lnTo>
                <a:lnTo>
                  <a:pt x="3718287" y="5288961"/>
                </a:lnTo>
                <a:lnTo>
                  <a:pt x="3740334" y="5245996"/>
                </a:lnTo>
                <a:lnTo>
                  <a:pt x="3761879" y="5202736"/>
                </a:lnTo>
                <a:lnTo>
                  <a:pt x="3782920" y="5159183"/>
                </a:lnTo>
                <a:lnTo>
                  <a:pt x="3803453" y="5115342"/>
                </a:lnTo>
                <a:lnTo>
                  <a:pt x="3823473" y="5071217"/>
                </a:lnTo>
                <a:lnTo>
                  <a:pt x="3842976" y="5026811"/>
                </a:lnTo>
                <a:lnTo>
                  <a:pt x="3861960" y="4982129"/>
                </a:lnTo>
                <a:lnTo>
                  <a:pt x="3880420" y="4937174"/>
                </a:lnTo>
                <a:lnTo>
                  <a:pt x="3898351" y="4891949"/>
                </a:lnTo>
                <a:lnTo>
                  <a:pt x="3915752" y="4846459"/>
                </a:lnTo>
                <a:lnTo>
                  <a:pt x="3932617" y="4800708"/>
                </a:lnTo>
                <a:lnTo>
                  <a:pt x="3948942" y="4754699"/>
                </a:lnTo>
                <a:lnTo>
                  <a:pt x="3964725" y="4708436"/>
                </a:lnTo>
                <a:lnTo>
                  <a:pt x="3979961" y="4661923"/>
                </a:lnTo>
                <a:lnTo>
                  <a:pt x="3994646" y="4615164"/>
                </a:lnTo>
                <a:lnTo>
                  <a:pt x="4008776" y="4568162"/>
                </a:lnTo>
                <a:lnTo>
                  <a:pt x="4022349" y="4520922"/>
                </a:lnTo>
                <a:lnTo>
                  <a:pt x="4035359" y="4473447"/>
                </a:lnTo>
                <a:lnTo>
                  <a:pt x="4047803" y="4425741"/>
                </a:lnTo>
                <a:lnTo>
                  <a:pt x="4059677" y="4377808"/>
                </a:lnTo>
                <a:lnTo>
                  <a:pt x="4070978" y="4329652"/>
                </a:lnTo>
                <a:lnTo>
                  <a:pt x="4081701" y="4281276"/>
                </a:lnTo>
                <a:lnTo>
                  <a:pt x="4091844" y="4232684"/>
                </a:lnTo>
                <a:lnTo>
                  <a:pt x="4101401" y="4183881"/>
                </a:lnTo>
                <a:lnTo>
                  <a:pt x="4110369" y="4134870"/>
                </a:lnTo>
                <a:lnTo>
                  <a:pt x="4118744" y="4085654"/>
                </a:lnTo>
                <a:lnTo>
                  <a:pt x="4126523" y="4036238"/>
                </a:lnTo>
                <a:lnTo>
                  <a:pt x="4133702" y="3986625"/>
                </a:lnTo>
                <a:lnTo>
                  <a:pt x="4140276" y="3936819"/>
                </a:lnTo>
                <a:lnTo>
                  <a:pt x="4146242" y="3886825"/>
                </a:lnTo>
                <a:lnTo>
                  <a:pt x="4151597" y="3836645"/>
                </a:lnTo>
                <a:lnTo>
                  <a:pt x="4156336" y="3786284"/>
                </a:lnTo>
                <a:lnTo>
                  <a:pt x="4160455" y="3735745"/>
                </a:lnTo>
                <a:lnTo>
                  <a:pt x="4163952" y="3685033"/>
                </a:lnTo>
                <a:lnTo>
                  <a:pt x="4166821" y="3634151"/>
                </a:lnTo>
                <a:lnTo>
                  <a:pt x="4169059" y="3583103"/>
                </a:lnTo>
                <a:lnTo>
                  <a:pt x="4170662" y="3531892"/>
                </a:lnTo>
                <a:lnTo>
                  <a:pt x="4171627" y="3480523"/>
                </a:lnTo>
                <a:lnTo>
                  <a:pt x="4171950" y="3429000"/>
                </a:lnTo>
                <a:lnTo>
                  <a:pt x="4171627" y="3377476"/>
                </a:lnTo>
                <a:lnTo>
                  <a:pt x="4170662" y="3326107"/>
                </a:lnTo>
                <a:lnTo>
                  <a:pt x="4169059" y="3274897"/>
                </a:lnTo>
                <a:lnTo>
                  <a:pt x="4166821" y="3223849"/>
                </a:lnTo>
                <a:lnTo>
                  <a:pt x="4163952" y="3172967"/>
                </a:lnTo>
                <a:lnTo>
                  <a:pt x="4160455" y="3122255"/>
                </a:lnTo>
                <a:lnTo>
                  <a:pt x="4156336" y="3071716"/>
                </a:lnTo>
                <a:lnTo>
                  <a:pt x="4151597" y="3021356"/>
                </a:lnTo>
                <a:lnTo>
                  <a:pt x="4146242" y="2971176"/>
                </a:lnTo>
                <a:lnTo>
                  <a:pt x="4140276" y="2921182"/>
                </a:lnTo>
                <a:lnTo>
                  <a:pt x="4133702" y="2871377"/>
                </a:lnTo>
                <a:lnTo>
                  <a:pt x="4126523" y="2821765"/>
                </a:lnTo>
                <a:lnTo>
                  <a:pt x="4118744" y="2772349"/>
                </a:lnTo>
                <a:lnTo>
                  <a:pt x="4110369" y="2723134"/>
                </a:lnTo>
                <a:lnTo>
                  <a:pt x="4101401" y="2674123"/>
                </a:lnTo>
                <a:lnTo>
                  <a:pt x="4091844" y="2625320"/>
                </a:lnTo>
                <a:lnTo>
                  <a:pt x="4081701" y="2576729"/>
                </a:lnTo>
                <a:lnTo>
                  <a:pt x="4070978" y="2528354"/>
                </a:lnTo>
                <a:lnTo>
                  <a:pt x="4059677" y="2480198"/>
                </a:lnTo>
                <a:lnTo>
                  <a:pt x="4047803" y="2432266"/>
                </a:lnTo>
                <a:lnTo>
                  <a:pt x="4035359" y="2384560"/>
                </a:lnTo>
                <a:lnTo>
                  <a:pt x="4022349" y="2337086"/>
                </a:lnTo>
                <a:lnTo>
                  <a:pt x="4008776" y="2289846"/>
                </a:lnTo>
                <a:lnTo>
                  <a:pt x="3994646" y="2242846"/>
                </a:lnTo>
                <a:lnTo>
                  <a:pt x="3979961" y="2196087"/>
                </a:lnTo>
                <a:lnTo>
                  <a:pt x="3964725" y="2149575"/>
                </a:lnTo>
                <a:lnTo>
                  <a:pt x="3948942" y="2103312"/>
                </a:lnTo>
                <a:lnTo>
                  <a:pt x="3932617" y="2057304"/>
                </a:lnTo>
                <a:lnTo>
                  <a:pt x="3915752" y="2011553"/>
                </a:lnTo>
                <a:lnTo>
                  <a:pt x="3898351" y="1966064"/>
                </a:lnTo>
                <a:lnTo>
                  <a:pt x="3880420" y="1920840"/>
                </a:lnTo>
                <a:lnTo>
                  <a:pt x="3861960" y="1875885"/>
                </a:lnTo>
                <a:lnTo>
                  <a:pt x="3842976" y="1831203"/>
                </a:lnTo>
                <a:lnTo>
                  <a:pt x="3823473" y="1786797"/>
                </a:lnTo>
                <a:lnTo>
                  <a:pt x="3803453" y="1742673"/>
                </a:lnTo>
                <a:lnTo>
                  <a:pt x="3782920" y="1698832"/>
                </a:lnTo>
                <a:lnTo>
                  <a:pt x="3761879" y="1655280"/>
                </a:lnTo>
                <a:lnTo>
                  <a:pt x="3740334" y="1612020"/>
                </a:lnTo>
                <a:lnTo>
                  <a:pt x="3718287" y="1569055"/>
                </a:lnTo>
                <a:lnTo>
                  <a:pt x="3695743" y="1526391"/>
                </a:lnTo>
                <a:lnTo>
                  <a:pt x="3672705" y="1484029"/>
                </a:lnTo>
                <a:lnTo>
                  <a:pt x="3649178" y="1441975"/>
                </a:lnTo>
                <a:lnTo>
                  <a:pt x="3625166" y="1400232"/>
                </a:lnTo>
                <a:lnTo>
                  <a:pt x="3600671" y="1358804"/>
                </a:lnTo>
                <a:lnTo>
                  <a:pt x="3575698" y="1317694"/>
                </a:lnTo>
                <a:lnTo>
                  <a:pt x="3550252" y="1276907"/>
                </a:lnTo>
                <a:lnTo>
                  <a:pt x="3524334" y="1236446"/>
                </a:lnTo>
                <a:lnTo>
                  <a:pt x="3497950" y="1196316"/>
                </a:lnTo>
                <a:lnTo>
                  <a:pt x="3471104" y="1156519"/>
                </a:lnTo>
                <a:lnTo>
                  <a:pt x="3443798" y="1117060"/>
                </a:lnTo>
                <a:lnTo>
                  <a:pt x="3416037" y="1077943"/>
                </a:lnTo>
                <a:lnTo>
                  <a:pt x="3387825" y="1039171"/>
                </a:lnTo>
                <a:lnTo>
                  <a:pt x="3359165" y="1000748"/>
                </a:lnTo>
                <a:lnTo>
                  <a:pt x="3330062" y="962678"/>
                </a:lnTo>
                <a:lnTo>
                  <a:pt x="3300519" y="924965"/>
                </a:lnTo>
                <a:lnTo>
                  <a:pt x="3270539" y="887613"/>
                </a:lnTo>
                <a:lnTo>
                  <a:pt x="3240128" y="850625"/>
                </a:lnTo>
                <a:lnTo>
                  <a:pt x="3209288" y="814006"/>
                </a:lnTo>
                <a:lnTo>
                  <a:pt x="3178023" y="777758"/>
                </a:lnTo>
                <a:lnTo>
                  <a:pt x="3146338" y="741886"/>
                </a:lnTo>
                <a:lnTo>
                  <a:pt x="3114236" y="706395"/>
                </a:lnTo>
                <a:lnTo>
                  <a:pt x="3081721" y="671286"/>
                </a:lnTo>
                <a:lnTo>
                  <a:pt x="3048796" y="636565"/>
                </a:lnTo>
                <a:lnTo>
                  <a:pt x="3015466" y="602235"/>
                </a:lnTo>
                <a:lnTo>
                  <a:pt x="2981734" y="568300"/>
                </a:lnTo>
                <a:lnTo>
                  <a:pt x="2947605" y="534764"/>
                </a:lnTo>
                <a:lnTo>
                  <a:pt x="2913081" y="501631"/>
                </a:lnTo>
                <a:lnTo>
                  <a:pt x="2878168" y="468903"/>
                </a:lnTo>
                <a:lnTo>
                  <a:pt x="2842867" y="436586"/>
                </a:lnTo>
                <a:lnTo>
                  <a:pt x="2807185" y="404684"/>
                </a:lnTo>
                <a:lnTo>
                  <a:pt x="2771123" y="373198"/>
                </a:lnTo>
                <a:lnTo>
                  <a:pt x="2734687" y="342135"/>
                </a:lnTo>
                <a:lnTo>
                  <a:pt x="2697880" y="311497"/>
                </a:lnTo>
                <a:lnTo>
                  <a:pt x="2660705" y="281288"/>
                </a:lnTo>
                <a:lnTo>
                  <a:pt x="2623167" y="251513"/>
                </a:lnTo>
                <a:lnTo>
                  <a:pt x="2585269" y="222174"/>
                </a:lnTo>
                <a:lnTo>
                  <a:pt x="2547016" y="193276"/>
                </a:lnTo>
                <a:lnTo>
                  <a:pt x="2508411" y="164823"/>
                </a:lnTo>
                <a:lnTo>
                  <a:pt x="2469457" y="136818"/>
                </a:lnTo>
                <a:lnTo>
                  <a:pt x="2430159" y="109265"/>
                </a:lnTo>
                <a:lnTo>
                  <a:pt x="2390521" y="82169"/>
                </a:lnTo>
                <a:lnTo>
                  <a:pt x="2262124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97220" y="2841370"/>
            <a:ext cx="5916295" cy="2315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380" rIns="0" bIns="0" rtlCol="0" vert="horz">
            <a:spAutoFit/>
          </a:bodyPr>
          <a:lstStyle/>
          <a:p>
            <a:pPr marL="12700" marR="5080" indent="213360">
              <a:lnSpc>
                <a:spcPts val="6459"/>
              </a:lnSpc>
              <a:spcBef>
                <a:spcPts val="940"/>
              </a:spcBef>
            </a:pPr>
            <a:r>
              <a:rPr dirty="0" spc="100"/>
              <a:t>Cyclone</a:t>
            </a:r>
            <a:r>
              <a:rPr dirty="0" spc="-175"/>
              <a:t> </a:t>
            </a:r>
            <a:r>
              <a:rPr dirty="0" spc="-75"/>
              <a:t>Preheater </a:t>
            </a:r>
            <a:r>
              <a:rPr dirty="0" spc="-25"/>
              <a:t>Anomaly</a:t>
            </a:r>
            <a:r>
              <a:rPr dirty="0" spc="-305"/>
              <a:t> </a:t>
            </a:r>
            <a:r>
              <a:rPr dirty="0" spc="-10"/>
              <a:t>Detection</a:t>
            </a:r>
          </a:p>
          <a:p>
            <a:pPr marL="2614295">
              <a:lnSpc>
                <a:spcPct val="100000"/>
              </a:lnSpc>
              <a:spcBef>
                <a:spcPts val="1390"/>
              </a:spcBef>
            </a:pPr>
            <a:r>
              <a:rPr dirty="0" sz="2400" spc="60"/>
              <a:t>By-</a:t>
            </a:r>
            <a:r>
              <a:rPr dirty="0" sz="2400" spc="-20"/>
              <a:t> </a:t>
            </a:r>
            <a:r>
              <a:rPr dirty="0" sz="2400" spc="110"/>
              <a:t>K</a:t>
            </a:r>
            <a:r>
              <a:rPr dirty="0" sz="2400" spc="20"/>
              <a:t> </a:t>
            </a:r>
            <a:r>
              <a:rPr dirty="0" sz="2400"/>
              <a:t>Vinod</a:t>
            </a:r>
            <a:r>
              <a:rPr dirty="0" sz="2400" spc="30"/>
              <a:t> </a:t>
            </a:r>
            <a:r>
              <a:rPr dirty="0" sz="2400" spc="50"/>
              <a:t>Kumar</a:t>
            </a:r>
            <a:r>
              <a:rPr dirty="0" sz="2400" spc="-30"/>
              <a:t> </a:t>
            </a:r>
            <a:r>
              <a:rPr dirty="0" sz="2400" spc="55"/>
              <a:t>Reddy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27" y="2665094"/>
            <a:ext cx="2627630" cy="13017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45"/>
              </a:spcBef>
            </a:pP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4400" spc="-75">
                <a:solidFill>
                  <a:srgbClr val="FFFFFF"/>
                </a:solidFill>
                <a:latin typeface="Calibri"/>
                <a:cs typeface="Calibri"/>
              </a:rPr>
              <a:t>Preparation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6501" y="4500498"/>
            <a:ext cx="2038350" cy="2038985"/>
          </a:xfrm>
          <a:custGeom>
            <a:avLst/>
            <a:gdLst/>
            <a:ahLst/>
            <a:cxnLst/>
            <a:rect l="l" t="t" r="r" b="b"/>
            <a:pathLst>
              <a:path w="2038350" h="2038984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29454" y="478980"/>
            <a:ext cx="6597650" cy="479488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114" b="1">
                <a:latin typeface="Calibri"/>
                <a:cs typeface="Calibri"/>
              </a:rPr>
              <a:t>Data</a:t>
            </a:r>
            <a:r>
              <a:rPr dirty="0" sz="2150" spc="-35" b="1">
                <a:latin typeface="Calibri"/>
                <a:cs typeface="Calibri"/>
              </a:rPr>
              <a:t> </a:t>
            </a:r>
            <a:r>
              <a:rPr dirty="0" sz="2150" spc="80" b="1">
                <a:latin typeface="Calibri"/>
                <a:cs typeface="Calibri"/>
              </a:rPr>
              <a:t>Preparation</a:t>
            </a:r>
            <a:endParaRPr sz="2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114" b="1">
                <a:latin typeface="Calibri"/>
                <a:cs typeface="Calibri"/>
              </a:rPr>
              <a:t>Dataset:</a:t>
            </a:r>
            <a:r>
              <a:rPr dirty="0" sz="2150" spc="20" b="1">
                <a:latin typeface="Calibri"/>
                <a:cs typeface="Calibri"/>
              </a:rPr>
              <a:t> </a:t>
            </a:r>
            <a:r>
              <a:rPr dirty="0" sz="2150" spc="125">
                <a:latin typeface="Calibri"/>
                <a:cs typeface="Calibri"/>
              </a:rPr>
              <a:t>Cyclone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55">
                <a:latin typeface="Calibri"/>
                <a:cs typeface="Calibri"/>
              </a:rPr>
              <a:t>Preheater</a:t>
            </a:r>
            <a:r>
              <a:rPr dirty="0" sz="2150">
                <a:latin typeface="Calibri"/>
                <a:cs typeface="Calibri"/>
              </a:rPr>
              <a:t> </a:t>
            </a:r>
            <a:r>
              <a:rPr dirty="0" sz="2150" spc="65">
                <a:latin typeface="Calibri"/>
                <a:cs typeface="Calibri"/>
              </a:rPr>
              <a:t>Industrial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135">
                <a:latin typeface="Calibri"/>
                <a:cs typeface="Calibri"/>
              </a:rPr>
              <a:t>Process</a:t>
            </a:r>
            <a:r>
              <a:rPr dirty="0" sz="2150" spc="-30">
                <a:latin typeface="Calibri"/>
                <a:cs typeface="Calibri"/>
              </a:rPr>
              <a:t> </a:t>
            </a:r>
            <a:r>
              <a:rPr dirty="0" sz="2150" spc="75">
                <a:latin typeface="Calibri"/>
                <a:cs typeface="Calibri"/>
              </a:rPr>
              <a:t>Data</a:t>
            </a:r>
            <a:endParaRPr sz="2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50" b="1">
                <a:latin typeface="Calibri"/>
                <a:cs typeface="Calibri"/>
              </a:rPr>
              <a:t>Total</a:t>
            </a:r>
            <a:r>
              <a:rPr dirty="0" sz="2150" b="1">
                <a:latin typeface="Calibri"/>
                <a:cs typeface="Calibri"/>
              </a:rPr>
              <a:t> </a:t>
            </a:r>
            <a:r>
              <a:rPr dirty="0" sz="2150" spc="120" b="1">
                <a:latin typeface="Calibri"/>
                <a:cs typeface="Calibri"/>
              </a:rPr>
              <a:t>records:</a:t>
            </a:r>
            <a:r>
              <a:rPr dirty="0" sz="2150" spc="35" b="1">
                <a:latin typeface="Calibri"/>
                <a:cs typeface="Calibri"/>
              </a:rPr>
              <a:t> </a:t>
            </a:r>
            <a:r>
              <a:rPr dirty="0" sz="2150" spc="70">
                <a:latin typeface="Calibri"/>
                <a:cs typeface="Calibri"/>
              </a:rPr>
              <a:t>377,719</a:t>
            </a:r>
            <a:endParaRPr sz="2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135" b="1">
                <a:latin typeface="Calibri"/>
                <a:cs typeface="Calibri"/>
              </a:rPr>
              <a:t>Sampling</a:t>
            </a:r>
            <a:r>
              <a:rPr dirty="0" sz="2150" spc="-20" b="1">
                <a:latin typeface="Calibri"/>
                <a:cs typeface="Calibri"/>
              </a:rPr>
              <a:t> </a:t>
            </a:r>
            <a:r>
              <a:rPr dirty="0" sz="2150" spc="85" b="1">
                <a:latin typeface="Calibri"/>
                <a:cs typeface="Calibri"/>
              </a:rPr>
              <a:t>interval:</a:t>
            </a:r>
            <a:r>
              <a:rPr dirty="0" sz="2150" spc="25" b="1">
                <a:latin typeface="Calibri"/>
                <a:cs typeface="Calibri"/>
              </a:rPr>
              <a:t> </a:t>
            </a:r>
            <a:r>
              <a:rPr dirty="0" sz="2150" spc="65">
                <a:latin typeface="Calibri"/>
                <a:cs typeface="Calibri"/>
              </a:rPr>
              <a:t>5</a:t>
            </a:r>
            <a:r>
              <a:rPr dirty="0" sz="2150" spc="10">
                <a:latin typeface="Calibri"/>
                <a:cs typeface="Calibri"/>
              </a:rPr>
              <a:t> </a:t>
            </a:r>
            <a:r>
              <a:rPr dirty="0" sz="2150" spc="75">
                <a:latin typeface="Calibri"/>
                <a:cs typeface="Calibri"/>
              </a:rPr>
              <a:t>minutes</a:t>
            </a:r>
            <a:endParaRPr sz="2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180" b="1">
                <a:latin typeface="Calibri"/>
                <a:cs typeface="Calibri"/>
              </a:rPr>
              <a:t>Process</a:t>
            </a:r>
            <a:r>
              <a:rPr dirty="0" sz="2150" spc="-35" b="1">
                <a:latin typeface="Calibri"/>
                <a:cs typeface="Calibri"/>
              </a:rPr>
              <a:t> </a:t>
            </a:r>
            <a:r>
              <a:rPr dirty="0" sz="2150" spc="110" b="1">
                <a:latin typeface="Calibri"/>
                <a:cs typeface="Calibri"/>
              </a:rPr>
              <a:t>variables:</a:t>
            </a:r>
            <a:r>
              <a:rPr dirty="0" sz="2150" spc="25" b="1">
                <a:latin typeface="Calibri"/>
                <a:cs typeface="Calibri"/>
              </a:rPr>
              <a:t> </a:t>
            </a:r>
            <a:r>
              <a:rPr dirty="0" sz="2150" spc="65">
                <a:latin typeface="Calibri"/>
                <a:cs typeface="Calibri"/>
              </a:rPr>
              <a:t>6</a:t>
            </a:r>
            <a:r>
              <a:rPr dirty="0" sz="2150">
                <a:latin typeface="Calibri"/>
                <a:cs typeface="Calibri"/>
              </a:rPr>
              <a:t> </a:t>
            </a:r>
            <a:r>
              <a:rPr dirty="0" sz="2150" spc="105">
                <a:latin typeface="Calibri"/>
                <a:cs typeface="Calibri"/>
              </a:rPr>
              <a:t>sensor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65">
                <a:latin typeface="Calibri"/>
                <a:cs typeface="Calibri"/>
              </a:rPr>
              <a:t>parameters</a:t>
            </a:r>
            <a:endParaRPr sz="21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130">
                <a:latin typeface="Calibri"/>
                <a:cs typeface="Calibri"/>
              </a:rPr>
              <a:t>Checked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150" b="1">
                <a:latin typeface="Calibri"/>
                <a:cs typeface="Calibri"/>
              </a:rPr>
              <a:t>missing</a:t>
            </a:r>
            <a:r>
              <a:rPr dirty="0" sz="2150" spc="-5" b="1">
                <a:latin typeface="Calibri"/>
                <a:cs typeface="Calibri"/>
              </a:rPr>
              <a:t> </a:t>
            </a:r>
            <a:r>
              <a:rPr dirty="0" sz="2150" spc="130" b="1">
                <a:latin typeface="Calibri"/>
                <a:cs typeface="Calibri"/>
              </a:rPr>
              <a:t>values</a:t>
            </a:r>
            <a:r>
              <a:rPr dirty="0" sz="2150" spc="55" b="1">
                <a:latin typeface="Calibri"/>
                <a:cs typeface="Calibri"/>
              </a:rPr>
              <a:t> </a:t>
            </a:r>
            <a:r>
              <a:rPr dirty="0" sz="2150" spc="120" b="1">
                <a:latin typeface="Calibri"/>
                <a:cs typeface="Calibri"/>
              </a:rPr>
              <a:t>and</a:t>
            </a:r>
            <a:r>
              <a:rPr dirty="0" sz="2150" spc="-20" b="1">
                <a:latin typeface="Calibri"/>
                <a:cs typeface="Calibri"/>
              </a:rPr>
              <a:t> </a:t>
            </a:r>
            <a:r>
              <a:rPr dirty="0" sz="2150" spc="120" b="1">
                <a:latin typeface="Calibri"/>
                <a:cs typeface="Calibri"/>
              </a:rPr>
              <a:t>duplicate</a:t>
            </a:r>
            <a:r>
              <a:rPr dirty="0" sz="2150" spc="-35" b="1">
                <a:latin typeface="Calibri"/>
                <a:cs typeface="Calibri"/>
              </a:rPr>
              <a:t> </a:t>
            </a:r>
            <a:r>
              <a:rPr dirty="0" sz="2150" spc="130" b="1">
                <a:latin typeface="Calibri"/>
                <a:cs typeface="Calibri"/>
              </a:rPr>
              <a:t>records</a:t>
            </a:r>
            <a:endParaRPr sz="2150">
              <a:latin typeface="Calibri"/>
              <a:cs typeface="Calibri"/>
            </a:endParaRPr>
          </a:p>
          <a:p>
            <a:pPr marL="241300" marR="499109" indent="-229235">
              <a:lnSpc>
                <a:spcPts val="240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80">
                <a:latin typeface="Calibri"/>
                <a:cs typeface="Calibri"/>
              </a:rPr>
              <a:t>Converted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 spc="50">
                <a:latin typeface="Calibri"/>
                <a:cs typeface="Calibri"/>
              </a:rPr>
              <a:t>the</a:t>
            </a:r>
            <a:r>
              <a:rPr dirty="0" sz="2150" spc="-40">
                <a:latin typeface="Calibri"/>
                <a:cs typeface="Calibri"/>
              </a:rPr>
              <a:t> </a:t>
            </a:r>
            <a:r>
              <a:rPr dirty="0" sz="2150" spc="114">
                <a:latin typeface="Calibri"/>
                <a:cs typeface="Calibri"/>
              </a:rPr>
              <a:t>six</a:t>
            </a:r>
            <a:r>
              <a:rPr dirty="0" sz="2150">
                <a:latin typeface="Calibri"/>
                <a:cs typeface="Calibri"/>
              </a:rPr>
              <a:t> </a:t>
            </a:r>
            <a:r>
              <a:rPr dirty="0" sz="2150" spc="105">
                <a:latin typeface="Calibri"/>
                <a:cs typeface="Calibri"/>
              </a:rPr>
              <a:t>sensor</a:t>
            </a:r>
            <a:r>
              <a:rPr dirty="0" sz="2150">
                <a:latin typeface="Calibri"/>
                <a:cs typeface="Calibri"/>
              </a:rPr>
              <a:t> </a:t>
            </a:r>
            <a:r>
              <a:rPr dirty="0" sz="2150" spc="85">
                <a:latin typeface="Calibri"/>
                <a:cs typeface="Calibri"/>
              </a:rPr>
              <a:t>variables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from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 spc="95" b="1">
                <a:latin typeface="Calibri"/>
                <a:cs typeface="Calibri"/>
              </a:rPr>
              <a:t>string</a:t>
            </a:r>
            <a:r>
              <a:rPr dirty="0" sz="2150" spc="-5" b="1">
                <a:latin typeface="Calibri"/>
                <a:cs typeface="Calibri"/>
              </a:rPr>
              <a:t> </a:t>
            </a:r>
            <a:r>
              <a:rPr dirty="0" sz="2150" spc="-25" b="1">
                <a:latin typeface="Calibri"/>
                <a:cs typeface="Calibri"/>
              </a:rPr>
              <a:t>to </a:t>
            </a:r>
            <a:r>
              <a:rPr dirty="0" sz="2150" spc="130" b="1">
                <a:latin typeface="Calibri"/>
                <a:cs typeface="Calibri"/>
              </a:rPr>
              <a:t>numeric</a:t>
            </a:r>
            <a:r>
              <a:rPr dirty="0" sz="2150" spc="-10" b="1">
                <a:latin typeface="Calibri"/>
                <a:cs typeface="Calibri"/>
              </a:rPr>
              <a:t> </a:t>
            </a:r>
            <a:r>
              <a:rPr dirty="0" sz="2150" spc="70" b="1">
                <a:latin typeface="Calibri"/>
                <a:cs typeface="Calibri"/>
              </a:rPr>
              <a:t>format</a:t>
            </a:r>
            <a:endParaRPr sz="2150">
              <a:latin typeface="Calibri"/>
              <a:cs typeface="Calibri"/>
            </a:endParaRPr>
          </a:p>
          <a:p>
            <a:pPr marL="241300" marR="5080" indent="-229235">
              <a:lnSpc>
                <a:spcPts val="233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50">
                <a:latin typeface="Calibri"/>
                <a:cs typeface="Calibri"/>
              </a:rPr>
              <a:t>Identified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80" b="1">
                <a:latin typeface="Calibri"/>
                <a:cs typeface="Calibri"/>
              </a:rPr>
              <a:t>1,595</a:t>
            </a:r>
            <a:r>
              <a:rPr dirty="0" sz="2150" spc="35" b="1">
                <a:latin typeface="Calibri"/>
                <a:cs typeface="Calibri"/>
              </a:rPr>
              <a:t> </a:t>
            </a:r>
            <a:r>
              <a:rPr dirty="0" sz="2150" spc="130" b="1">
                <a:latin typeface="Calibri"/>
                <a:cs typeface="Calibri"/>
              </a:rPr>
              <a:t>records</a:t>
            </a:r>
            <a:r>
              <a:rPr dirty="0" sz="2150" b="1">
                <a:latin typeface="Calibri"/>
                <a:cs typeface="Calibri"/>
              </a:rPr>
              <a:t> </a:t>
            </a:r>
            <a:r>
              <a:rPr dirty="0" sz="2150" spc="65" b="1">
                <a:latin typeface="Calibri"/>
                <a:cs typeface="Calibri"/>
              </a:rPr>
              <a:t>(0.42%)</a:t>
            </a:r>
            <a:r>
              <a:rPr dirty="0" sz="2150" spc="90" b="1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with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110">
                <a:latin typeface="Calibri"/>
                <a:cs typeface="Calibri"/>
              </a:rPr>
              <a:t>missing</a:t>
            </a:r>
            <a:r>
              <a:rPr dirty="0" sz="2150" spc="-5">
                <a:latin typeface="Calibri"/>
                <a:cs typeface="Calibri"/>
              </a:rPr>
              <a:t> </a:t>
            </a:r>
            <a:r>
              <a:rPr dirty="0" sz="2150" spc="95">
                <a:latin typeface="Calibri"/>
                <a:cs typeface="Calibri"/>
              </a:rPr>
              <a:t>sensor </a:t>
            </a:r>
            <a:r>
              <a:rPr dirty="0" sz="2150" spc="70">
                <a:latin typeface="Calibri"/>
                <a:cs typeface="Calibri"/>
              </a:rPr>
              <a:t>observations</a:t>
            </a:r>
            <a:endParaRPr sz="2150">
              <a:latin typeface="Calibri"/>
              <a:cs typeface="Calibri"/>
            </a:endParaRPr>
          </a:p>
          <a:p>
            <a:pPr marL="241300" indent="-228600">
              <a:lnSpc>
                <a:spcPts val="249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150" spc="114">
                <a:latin typeface="Calibri"/>
                <a:cs typeface="Calibri"/>
              </a:rPr>
              <a:t>Records</a:t>
            </a:r>
            <a:r>
              <a:rPr dirty="0" sz="2150">
                <a:latin typeface="Calibri"/>
                <a:cs typeface="Calibri"/>
              </a:rPr>
              <a:t> with</a:t>
            </a:r>
            <a:r>
              <a:rPr dirty="0" sz="2150" spc="15">
                <a:latin typeface="Calibri"/>
                <a:cs typeface="Calibri"/>
              </a:rPr>
              <a:t> </a:t>
            </a:r>
            <a:r>
              <a:rPr dirty="0" sz="2150" spc="85">
                <a:latin typeface="Calibri"/>
                <a:cs typeface="Calibri"/>
              </a:rPr>
              <a:t>incomplete</a:t>
            </a:r>
            <a:r>
              <a:rPr dirty="0" sz="2150" spc="-10">
                <a:latin typeface="Calibri"/>
                <a:cs typeface="Calibri"/>
              </a:rPr>
              <a:t> </a:t>
            </a:r>
            <a:r>
              <a:rPr dirty="0" sz="2150" spc="114">
                <a:latin typeface="Calibri"/>
                <a:cs typeface="Calibri"/>
              </a:rPr>
              <a:t>sensor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 spc="105">
                <a:latin typeface="Calibri"/>
                <a:cs typeface="Calibri"/>
              </a:rPr>
              <a:t>values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were</a:t>
            </a:r>
            <a:endParaRPr sz="2150">
              <a:latin typeface="Calibri"/>
              <a:cs typeface="Calibri"/>
            </a:endParaRPr>
          </a:p>
          <a:p>
            <a:pPr marL="241300">
              <a:lnSpc>
                <a:spcPts val="2490"/>
              </a:lnSpc>
            </a:pPr>
            <a:r>
              <a:rPr dirty="0" sz="2150" spc="90">
                <a:latin typeface="Calibri"/>
                <a:cs typeface="Calibri"/>
              </a:rPr>
              <a:t>excluded</a:t>
            </a:r>
            <a:r>
              <a:rPr dirty="0" sz="2150" spc="-50">
                <a:latin typeface="Calibri"/>
                <a:cs typeface="Calibri"/>
              </a:rPr>
              <a:t> </a:t>
            </a:r>
            <a:r>
              <a:rPr dirty="0" sz="2150" spc="50">
                <a:latin typeface="Calibri"/>
                <a:cs typeface="Calibri"/>
              </a:rPr>
              <a:t>from</a:t>
            </a:r>
            <a:r>
              <a:rPr dirty="0" sz="2150" spc="-15">
                <a:latin typeface="Calibri"/>
                <a:cs typeface="Calibri"/>
              </a:rPr>
              <a:t> </a:t>
            </a:r>
            <a:r>
              <a:rPr dirty="0" sz="2150" spc="50">
                <a:latin typeface="Calibri"/>
                <a:cs typeface="Calibri"/>
              </a:rPr>
              <a:t>the</a:t>
            </a:r>
            <a:r>
              <a:rPr dirty="0" sz="2150" spc="-45">
                <a:latin typeface="Calibri"/>
                <a:cs typeface="Calibri"/>
              </a:rPr>
              <a:t> </a:t>
            </a:r>
            <a:r>
              <a:rPr dirty="0" sz="2150" spc="100">
                <a:latin typeface="Calibri"/>
                <a:cs typeface="Calibri"/>
              </a:rPr>
              <a:t>anomaly-</a:t>
            </a:r>
            <a:r>
              <a:rPr dirty="0" sz="2150" spc="65">
                <a:latin typeface="Calibri"/>
                <a:cs typeface="Calibri"/>
              </a:rPr>
              <a:t>detection</a:t>
            </a:r>
            <a:r>
              <a:rPr dirty="0" sz="2150" spc="-20">
                <a:latin typeface="Calibri"/>
                <a:cs typeface="Calibri"/>
              </a:rPr>
              <a:t> </a:t>
            </a:r>
            <a:r>
              <a:rPr dirty="0" sz="2150" spc="110">
                <a:latin typeface="Calibri"/>
                <a:cs typeface="Calibri"/>
              </a:rPr>
              <a:t>analysis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27" y="2362517"/>
            <a:ext cx="2627630" cy="13023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45"/>
              </a:spcBef>
            </a:pPr>
            <a:r>
              <a:rPr dirty="0" sz="44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4400" spc="-75">
                <a:solidFill>
                  <a:srgbClr val="FFFFFF"/>
                </a:solidFill>
                <a:latin typeface="Calibri"/>
                <a:cs typeface="Calibri"/>
              </a:rPr>
              <a:t>Preparation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6501" y="4500498"/>
            <a:ext cx="2038350" cy="2038985"/>
          </a:xfrm>
          <a:custGeom>
            <a:avLst/>
            <a:gdLst/>
            <a:ahLst/>
            <a:cxnLst/>
            <a:rect l="l" t="t" r="r" b="b"/>
            <a:pathLst>
              <a:path w="2038350" h="2038984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29454" y="1233633"/>
            <a:ext cx="5238750" cy="361124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200" b="1">
                <a:latin typeface="Calibri"/>
                <a:cs typeface="Calibri"/>
              </a:rPr>
              <a:t>Sensor</a:t>
            </a:r>
            <a:r>
              <a:rPr dirty="0" sz="2750" spc="-70" b="1">
                <a:latin typeface="Calibri"/>
                <a:cs typeface="Calibri"/>
              </a:rPr>
              <a:t> </a:t>
            </a:r>
            <a:r>
              <a:rPr dirty="0" sz="2750" spc="125" b="1">
                <a:latin typeface="Calibri"/>
                <a:cs typeface="Calibri"/>
              </a:rPr>
              <a:t>Parameters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55">
                <a:latin typeface="Calibri"/>
                <a:cs typeface="Calibri"/>
              </a:rPr>
              <a:t>Cyclone</a:t>
            </a:r>
            <a:r>
              <a:rPr dirty="0" sz="2750" spc="-60">
                <a:latin typeface="Calibri"/>
                <a:cs typeface="Calibri"/>
              </a:rPr>
              <a:t> </a:t>
            </a:r>
            <a:r>
              <a:rPr dirty="0" sz="2750" spc="60">
                <a:latin typeface="Calibri"/>
                <a:cs typeface="Calibri"/>
              </a:rPr>
              <a:t>Inlet</a:t>
            </a:r>
            <a:r>
              <a:rPr dirty="0" sz="2750" spc="-90">
                <a:latin typeface="Calibri"/>
                <a:cs typeface="Calibri"/>
              </a:rPr>
              <a:t> </a:t>
            </a:r>
            <a:r>
              <a:rPr dirty="0" sz="2750" spc="240">
                <a:latin typeface="Calibri"/>
                <a:cs typeface="Calibri"/>
              </a:rPr>
              <a:t>Gas</a:t>
            </a:r>
            <a:r>
              <a:rPr dirty="0" sz="2750" spc="-95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Temperature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55">
                <a:latin typeface="Calibri"/>
                <a:cs typeface="Calibri"/>
              </a:rPr>
              <a:t>Cyclone</a:t>
            </a:r>
            <a:r>
              <a:rPr dirty="0" sz="2750" spc="9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Material</a:t>
            </a:r>
            <a:r>
              <a:rPr dirty="0" sz="2750" spc="10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Temperature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55">
                <a:latin typeface="Calibri"/>
                <a:cs typeface="Calibri"/>
              </a:rPr>
              <a:t>Cyclone</a:t>
            </a:r>
            <a:r>
              <a:rPr dirty="0" sz="2750" spc="-60">
                <a:latin typeface="Calibri"/>
                <a:cs typeface="Calibri"/>
              </a:rPr>
              <a:t> </a:t>
            </a:r>
            <a:r>
              <a:rPr dirty="0" sz="2750" spc="80">
                <a:latin typeface="Calibri"/>
                <a:cs typeface="Calibri"/>
              </a:rPr>
              <a:t>Outlet</a:t>
            </a:r>
            <a:r>
              <a:rPr dirty="0" sz="2750" spc="-90">
                <a:latin typeface="Calibri"/>
                <a:cs typeface="Calibri"/>
              </a:rPr>
              <a:t> </a:t>
            </a:r>
            <a:r>
              <a:rPr dirty="0" sz="2750" spc="240">
                <a:latin typeface="Calibri"/>
                <a:cs typeface="Calibri"/>
              </a:rPr>
              <a:t>Gas</a:t>
            </a:r>
            <a:r>
              <a:rPr dirty="0" sz="2750" spc="-90">
                <a:latin typeface="Calibri"/>
                <a:cs typeface="Calibri"/>
              </a:rPr>
              <a:t> </a:t>
            </a:r>
            <a:r>
              <a:rPr dirty="0" sz="2750" spc="50">
                <a:latin typeface="Calibri"/>
                <a:cs typeface="Calibri"/>
              </a:rPr>
              <a:t>Draft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55">
                <a:latin typeface="Calibri"/>
                <a:cs typeface="Calibri"/>
              </a:rPr>
              <a:t>Cyclone</a:t>
            </a:r>
            <a:r>
              <a:rPr dirty="0" sz="2750" spc="-55">
                <a:latin typeface="Calibri"/>
                <a:cs typeface="Calibri"/>
              </a:rPr>
              <a:t> </a:t>
            </a:r>
            <a:r>
              <a:rPr dirty="0" sz="2750" spc="175">
                <a:latin typeface="Calibri"/>
                <a:cs typeface="Calibri"/>
              </a:rPr>
              <a:t>Cone</a:t>
            </a:r>
            <a:r>
              <a:rPr dirty="0" sz="2750" spc="-50">
                <a:latin typeface="Calibri"/>
                <a:cs typeface="Calibri"/>
              </a:rPr>
              <a:t> </a:t>
            </a:r>
            <a:r>
              <a:rPr dirty="0" sz="2750" spc="40">
                <a:latin typeface="Calibri"/>
                <a:cs typeface="Calibri"/>
              </a:rPr>
              <a:t>Draft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55">
                <a:latin typeface="Calibri"/>
                <a:cs typeface="Calibri"/>
              </a:rPr>
              <a:t>Cyclone</a:t>
            </a:r>
            <a:r>
              <a:rPr dirty="0" sz="2750" spc="-60">
                <a:latin typeface="Calibri"/>
                <a:cs typeface="Calibri"/>
              </a:rPr>
              <a:t> </a:t>
            </a:r>
            <a:r>
              <a:rPr dirty="0" sz="2750" spc="215">
                <a:latin typeface="Calibri"/>
                <a:cs typeface="Calibri"/>
              </a:rPr>
              <a:t>Gas</a:t>
            </a:r>
            <a:r>
              <a:rPr dirty="0" sz="2750" spc="-15">
                <a:latin typeface="Calibri"/>
                <a:cs typeface="Calibri"/>
              </a:rPr>
              <a:t> </a:t>
            </a:r>
            <a:r>
              <a:rPr dirty="0" sz="2750" spc="80">
                <a:latin typeface="Calibri"/>
                <a:cs typeface="Calibri"/>
              </a:rPr>
              <a:t>Outlet</a:t>
            </a:r>
            <a:r>
              <a:rPr dirty="0" sz="2750" spc="-9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Temperature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55">
                <a:latin typeface="Calibri"/>
                <a:cs typeface="Calibri"/>
              </a:rPr>
              <a:t>Cyclone</a:t>
            </a:r>
            <a:r>
              <a:rPr dirty="0" sz="2750" spc="-60">
                <a:latin typeface="Calibri"/>
                <a:cs typeface="Calibri"/>
              </a:rPr>
              <a:t> </a:t>
            </a:r>
            <a:r>
              <a:rPr dirty="0" sz="2750" spc="60">
                <a:latin typeface="Calibri"/>
                <a:cs typeface="Calibri"/>
              </a:rPr>
              <a:t>Inlet</a:t>
            </a:r>
            <a:r>
              <a:rPr dirty="0" sz="2750" spc="-85">
                <a:latin typeface="Calibri"/>
                <a:cs typeface="Calibri"/>
              </a:rPr>
              <a:t> </a:t>
            </a:r>
            <a:r>
              <a:rPr dirty="0" sz="2750" spc="40">
                <a:latin typeface="Calibri"/>
                <a:cs typeface="Calibri"/>
              </a:rPr>
              <a:t>Draft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27" y="2665094"/>
            <a:ext cx="1916430" cy="13017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45"/>
              </a:spcBef>
            </a:pPr>
            <a:r>
              <a:rPr dirty="0" sz="4400" spc="-10">
                <a:solidFill>
                  <a:srgbClr val="FFFFFF"/>
                </a:solidFill>
                <a:latin typeface="Calibri"/>
                <a:cs typeface="Calibri"/>
              </a:rPr>
              <a:t>Analysis Strategy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6501" y="4500498"/>
            <a:ext cx="2038350" cy="2038985"/>
          </a:xfrm>
          <a:custGeom>
            <a:avLst/>
            <a:gdLst/>
            <a:ahLst/>
            <a:cxnLst/>
            <a:rect l="l" t="t" r="r" b="b"/>
            <a:pathLst>
              <a:path w="2038350" h="2038984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29454" y="1023302"/>
            <a:ext cx="6713220" cy="465518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239395" marR="343535" indent="-227329">
              <a:lnSpc>
                <a:spcPts val="2550"/>
              </a:lnSpc>
              <a:spcBef>
                <a:spcPts val="45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Performed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75" b="1">
                <a:latin typeface="Calibri"/>
                <a:cs typeface="Calibri"/>
              </a:rPr>
              <a:t>Exploratory</a:t>
            </a:r>
            <a:r>
              <a:rPr dirty="0" sz="2400" spc="15" b="1">
                <a:latin typeface="Calibri"/>
                <a:cs typeface="Calibri"/>
              </a:rPr>
              <a:t> </a:t>
            </a:r>
            <a:r>
              <a:rPr dirty="0" sz="2400" spc="114" b="1">
                <a:latin typeface="Calibri"/>
                <a:cs typeface="Calibri"/>
              </a:rPr>
              <a:t>Data</a:t>
            </a:r>
            <a:r>
              <a:rPr dirty="0" sz="2400" spc="35" b="1">
                <a:latin typeface="Calibri"/>
                <a:cs typeface="Calibri"/>
              </a:rPr>
              <a:t> </a:t>
            </a:r>
            <a:r>
              <a:rPr dirty="0" sz="2400" spc="120" b="1">
                <a:latin typeface="Calibri"/>
                <a:cs typeface="Calibri"/>
              </a:rPr>
              <a:t>Analysis</a:t>
            </a:r>
            <a:r>
              <a:rPr dirty="0" sz="2400" spc="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(EDA)</a:t>
            </a:r>
            <a:r>
              <a:rPr dirty="0" sz="2400" spc="130" b="1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55">
                <a:latin typeface="Calibri"/>
                <a:cs typeface="Calibri"/>
              </a:rPr>
              <a:t>understand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75">
                <a:latin typeface="Calibri"/>
                <a:cs typeface="Calibri"/>
              </a:rPr>
              <a:t>sensor-</a:t>
            </a:r>
            <a:r>
              <a:rPr dirty="0" sz="2400" spc="55">
                <a:latin typeface="Calibri"/>
                <a:cs typeface="Calibri"/>
              </a:rPr>
              <a:t>value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40">
                <a:latin typeface="Calibri"/>
                <a:cs typeface="Calibri"/>
              </a:rPr>
              <a:t>distributions.</a:t>
            </a:r>
            <a:endParaRPr sz="2400">
              <a:latin typeface="Calibri"/>
              <a:cs typeface="Calibri"/>
            </a:endParaRPr>
          </a:p>
          <a:p>
            <a:pPr marL="239395" marR="833755" indent="-227329">
              <a:lnSpc>
                <a:spcPts val="26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105">
                <a:latin typeface="Calibri"/>
                <a:cs typeface="Calibri"/>
              </a:rPr>
              <a:t>Used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130" b="1">
                <a:latin typeface="Calibri"/>
                <a:cs typeface="Calibri"/>
              </a:rPr>
              <a:t>six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140" b="1">
                <a:latin typeface="Calibri"/>
                <a:cs typeface="Calibri"/>
              </a:rPr>
              <a:t>sensor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110" b="1">
                <a:latin typeface="Calibri"/>
                <a:cs typeface="Calibri"/>
              </a:rPr>
              <a:t>variables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60" b="1">
                <a:latin typeface="Calibri"/>
                <a:cs typeface="Calibri"/>
              </a:rPr>
              <a:t>together</a:t>
            </a:r>
            <a:r>
              <a:rPr dirty="0" sz="2400" spc="5" b="1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for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multivariate</a:t>
            </a:r>
            <a:r>
              <a:rPr dirty="0" sz="2400" spc="330">
                <a:latin typeface="Calibri"/>
                <a:cs typeface="Calibri"/>
              </a:rPr>
              <a:t> </a:t>
            </a:r>
            <a:r>
              <a:rPr dirty="0" sz="2400" spc="80">
                <a:latin typeface="Calibri"/>
                <a:cs typeface="Calibri"/>
              </a:rPr>
              <a:t>analysis.</a:t>
            </a:r>
            <a:endParaRPr sz="2400">
              <a:latin typeface="Calibri"/>
              <a:cs typeface="Calibri"/>
            </a:endParaRPr>
          </a:p>
          <a:p>
            <a:pPr marL="239395" marR="972185" indent="-227329">
              <a:lnSpc>
                <a:spcPts val="255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400" spc="60">
                <a:latin typeface="Calibri"/>
                <a:cs typeface="Calibri"/>
              </a:rPr>
              <a:t>Applied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90" b="1">
                <a:latin typeface="Calibri"/>
                <a:cs typeface="Calibri"/>
              </a:rPr>
              <a:t>Isolation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105" b="1">
                <a:latin typeface="Calibri"/>
                <a:cs typeface="Calibri"/>
              </a:rPr>
              <a:t>Forest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60">
                <a:latin typeface="Calibri"/>
                <a:cs typeface="Calibri"/>
              </a:rPr>
              <a:t>unsupervised </a:t>
            </a:r>
            <a:r>
              <a:rPr dirty="0" sz="2400" spc="60">
                <a:latin typeface="Calibri"/>
                <a:cs typeface="Calibri"/>
              </a:rPr>
              <a:t>	</a:t>
            </a:r>
            <a:r>
              <a:rPr dirty="0" sz="2400" spc="70">
                <a:latin typeface="Calibri"/>
                <a:cs typeface="Calibri"/>
              </a:rPr>
              <a:t>anomaly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45">
                <a:latin typeface="Calibri"/>
                <a:cs typeface="Calibri"/>
              </a:rPr>
              <a:t>detection.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55"/>
              </a:lnSpc>
              <a:spcBef>
                <a:spcPts val="69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Generated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80">
                <a:latin typeface="Calibri"/>
                <a:cs typeface="Calibri"/>
              </a:rPr>
              <a:t>an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105" b="1">
                <a:latin typeface="Calibri"/>
                <a:cs typeface="Calibri"/>
              </a:rPr>
              <a:t>anomaly</a:t>
            </a:r>
            <a:r>
              <a:rPr dirty="0" sz="2400" spc="50" b="1">
                <a:latin typeface="Calibri"/>
                <a:cs typeface="Calibri"/>
              </a:rPr>
              <a:t> </a:t>
            </a:r>
            <a:r>
              <a:rPr dirty="0" sz="2400" spc="140" b="1">
                <a:latin typeface="Calibri"/>
                <a:cs typeface="Calibri"/>
              </a:rPr>
              <a:t>score</a:t>
            </a:r>
            <a:r>
              <a:rPr dirty="0" sz="2400" spc="5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120">
                <a:latin typeface="Calibri"/>
                <a:cs typeface="Calibri"/>
              </a:rPr>
              <a:t>each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55">
                <a:latin typeface="Calibri"/>
                <a:cs typeface="Calibri"/>
              </a:rPr>
              <a:t>analyzed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55"/>
              </a:lnSpc>
            </a:pPr>
            <a:r>
              <a:rPr dirty="0" sz="2400" spc="45">
                <a:latin typeface="Calibri"/>
                <a:cs typeface="Calibri"/>
              </a:rPr>
              <a:t>observation.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2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110">
                <a:latin typeface="Calibri"/>
                <a:cs typeface="Calibri"/>
              </a:rPr>
              <a:t>Classified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60">
                <a:latin typeface="Calibri"/>
                <a:cs typeface="Calibri"/>
              </a:rPr>
              <a:t>observations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175">
                <a:latin typeface="Calibri"/>
                <a:cs typeface="Calibri"/>
              </a:rPr>
              <a:t>as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105" b="1">
                <a:latin typeface="Calibri"/>
                <a:cs typeface="Calibri"/>
              </a:rPr>
              <a:t>normal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20"/>
              </a:lnSpc>
            </a:pPr>
            <a:r>
              <a:rPr dirty="0" sz="2400" spc="114" b="1">
                <a:latin typeface="Calibri"/>
                <a:cs typeface="Calibri"/>
              </a:rPr>
              <a:t>anomalous</a:t>
            </a:r>
            <a:r>
              <a:rPr dirty="0" sz="2400" spc="114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55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400" spc="55">
                <a:latin typeface="Calibri"/>
                <a:cs typeface="Calibri"/>
              </a:rPr>
              <a:t>Grouped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80">
                <a:latin typeface="Calibri"/>
                <a:cs typeface="Calibri"/>
              </a:rPr>
              <a:t>consecutive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95">
                <a:latin typeface="Calibri"/>
                <a:cs typeface="Calibri"/>
              </a:rPr>
              <a:t>anomalous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65">
                <a:latin typeface="Calibri"/>
                <a:cs typeface="Calibri"/>
              </a:rPr>
              <a:t>observations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55"/>
              </a:lnSpc>
            </a:pPr>
            <a:r>
              <a:rPr dirty="0" sz="2400">
                <a:latin typeface="Calibri"/>
                <a:cs typeface="Calibri"/>
              </a:rPr>
              <a:t>identify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 spc="100" b="1">
                <a:latin typeface="Calibri"/>
                <a:cs typeface="Calibri"/>
              </a:rPr>
              <a:t>abnormal</a:t>
            </a:r>
            <a:r>
              <a:rPr dirty="0" sz="2400" spc="20" b="1">
                <a:latin typeface="Calibri"/>
                <a:cs typeface="Calibri"/>
              </a:rPr>
              <a:t> </a:t>
            </a:r>
            <a:r>
              <a:rPr dirty="0" sz="2400" spc="95" b="1">
                <a:latin typeface="Calibri"/>
                <a:cs typeface="Calibri"/>
              </a:rPr>
              <a:t>time</a:t>
            </a:r>
            <a:r>
              <a:rPr dirty="0" sz="2400" spc="-10" b="1">
                <a:latin typeface="Calibri"/>
                <a:cs typeface="Calibri"/>
              </a:rPr>
              <a:t> </a:t>
            </a:r>
            <a:r>
              <a:rPr dirty="0" sz="2400" spc="100" b="1">
                <a:latin typeface="Calibri"/>
                <a:cs typeface="Calibri"/>
              </a:rPr>
              <a:t>periods</a:t>
            </a:r>
            <a:r>
              <a:rPr dirty="0" sz="2400" spc="10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27" y="2362517"/>
            <a:ext cx="1916430" cy="130238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45"/>
              </a:spcBef>
            </a:pPr>
            <a:r>
              <a:rPr dirty="0" sz="4400" spc="-10">
                <a:solidFill>
                  <a:srgbClr val="FFFFFF"/>
                </a:solidFill>
                <a:latin typeface="Calibri"/>
                <a:cs typeface="Calibri"/>
              </a:rPr>
              <a:t>Analysis Strategy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6501" y="4500498"/>
            <a:ext cx="2038350" cy="2038985"/>
          </a:xfrm>
          <a:custGeom>
            <a:avLst/>
            <a:gdLst/>
            <a:ahLst/>
            <a:cxnLst/>
            <a:rect l="l" t="t" r="r" b="b"/>
            <a:pathLst>
              <a:path w="2038350" h="2038984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29454" y="388048"/>
            <a:ext cx="16040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00" b="1">
                <a:latin typeface="Calibri"/>
                <a:cs typeface="Calibri"/>
              </a:rPr>
              <a:t>Analysis</a:t>
            </a:r>
            <a:r>
              <a:rPr dirty="0" sz="2000" b="1">
                <a:latin typeface="Calibri"/>
                <a:cs typeface="Calibri"/>
              </a:rPr>
              <a:t> </a:t>
            </a:r>
            <a:r>
              <a:rPr dirty="0" sz="2000" spc="60" b="1">
                <a:latin typeface="Calibri"/>
                <a:cs typeface="Calibri"/>
              </a:rPr>
              <a:t>Flow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9454" y="1068768"/>
            <a:ext cx="2827020" cy="485203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 marR="974090">
              <a:lnSpc>
                <a:spcPct val="100000"/>
              </a:lnSpc>
              <a:spcBef>
                <a:spcPts val="625"/>
              </a:spcBef>
            </a:pPr>
            <a:r>
              <a:rPr dirty="0" sz="2000">
                <a:latin typeface="Consolas"/>
                <a:cs typeface="Consolas"/>
              </a:rPr>
              <a:t>Prepared</a:t>
            </a:r>
            <a:r>
              <a:rPr dirty="0" sz="2000" spc="-35">
                <a:latin typeface="Consolas"/>
                <a:cs typeface="Consolas"/>
              </a:rPr>
              <a:t> </a:t>
            </a:r>
            <a:r>
              <a:rPr dirty="0" sz="2000" spc="-20">
                <a:latin typeface="Consolas"/>
                <a:cs typeface="Consolas"/>
              </a:rPr>
              <a:t>Data</a:t>
            </a:r>
            <a:endParaRPr sz="2000">
              <a:latin typeface="Consolas"/>
              <a:cs typeface="Consolas"/>
            </a:endParaRPr>
          </a:p>
          <a:p>
            <a:pPr algn="ctr" marR="974090">
              <a:lnSpc>
                <a:spcPct val="100000"/>
              </a:lnSpc>
              <a:spcBef>
                <a:spcPts val="530"/>
              </a:spcBef>
            </a:pPr>
            <a:r>
              <a:rPr dirty="0" sz="2000" spc="-50">
                <a:latin typeface="Consolas"/>
                <a:cs typeface="Consolas"/>
              </a:rPr>
              <a:t>↓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000" spc="-25">
                <a:latin typeface="Consolas"/>
                <a:cs typeface="Consolas"/>
              </a:rPr>
              <a:t>EDA</a:t>
            </a:r>
            <a:endParaRPr sz="2000">
              <a:latin typeface="Consolas"/>
              <a:cs typeface="Consolas"/>
            </a:endParaRPr>
          </a:p>
          <a:p>
            <a:pPr marL="851535">
              <a:lnSpc>
                <a:spcPct val="100000"/>
              </a:lnSpc>
              <a:spcBef>
                <a:spcPts val="530"/>
              </a:spcBef>
            </a:pPr>
            <a:r>
              <a:rPr dirty="0" sz="2000" spc="-50">
                <a:latin typeface="Consolas"/>
                <a:cs typeface="Consolas"/>
              </a:rPr>
              <a:t>↓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latin typeface="Consolas"/>
                <a:cs typeface="Consolas"/>
              </a:rPr>
              <a:t>Six</a:t>
            </a:r>
            <a:r>
              <a:rPr dirty="0" sz="2000" spc="5">
                <a:latin typeface="Consolas"/>
                <a:cs typeface="Consolas"/>
              </a:rPr>
              <a:t> </a:t>
            </a:r>
            <a:r>
              <a:rPr dirty="0" sz="2000">
                <a:latin typeface="Consolas"/>
                <a:cs typeface="Consolas"/>
              </a:rPr>
              <a:t>Sensor</a:t>
            </a:r>
            <a:r>
              <a:rPr dirty="0" sz="2000" spc="-70">
                <a:latin typeface="Consolas"/>
                <a:cs typeface="Consolas"/>
              </a:rPr>
              <a:t> </a:t>
            </a:r>
            <a:r>
              <a:rPr dirty="0" sz="2000" spc="-10">
                <a:latin typeface="Consolas"/>
                <a:cs typeface="Consolas"/>
              </a:rPr>
              <a:t>Variables</a:t>
            </a:r>
            <a:endParaRPr sz="2000">
              <a:latin typeface="Consolas"/>
              <a:cs typeface="Consolas"/>
            </a:endParaRPr>
          </a:p>
          <a:p>
            <a:pPr marL="851535">
              <a:lnSpc>
                <a:spcPct val="100000"/>
              </a:lnSpc>
              <a:spcBef>
                <a:spcPts val="530"/>
              </a:spcBef>
            </a:pPr>
            <a:r>
              <a:rPr dirty="0" sz="2000" spc="-50">
                <a:latin typeface="Consolas"/>
                <a:cs typeface="Consolas"/>
              </a:rPr>
              <a:t>↓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latin typeface="Consolas"/>
                <a:cs typeface="Consolas"/>
              </a:rPr>
              <a:t>Isolation</a:t>
            </a:r>
            <a:r>
              <a:rPr dirty="0" sz="2000" spc="-15">
                <a:latin typeface="Consolas"/>
                <a:cs typeface="Consolas"/>
              </a:rPr>
              <a:t> </a:t>
            </a:r>
            <a:r>
              <a:rPr dirty="0" sz="2000" spc="-10">
                <a:latin typeface="Consolas"/>
                <a:cs typeface="Consolas"/>
              </a:rPr>
              <a:t>Forest</a:t>
            </a:r>
            <a:endParaRPr sz="2000">
              <a:latin typeface="Consolas"/>
              <a:cs typeface="Consolas"/>
            </a:endParaRPr>
          </a:p>
          <a:p>
            <a:pPr marL="851535">
              <a:lnSpc>
                <a:spcPct val="100000"/>
              </a:lnSpc>
              <a:spcBef>
                <a:spcPts val="525"/>
              </a:spcBef>
            </a:pPr>
            <a:r>
              <a:rPr dirty="0" sz="2000" spc="-50">
                <a:latin typeface="Consolas"/>
                <a:cs typeface="Consolas"/>
              </a:rPr>
              <a:t>↓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latin typeface="Consolas"/>
                <a:cs typeface="Consolas"/>
              </a:rPr>
              <a:t>Anomaly</a:t>
            </a:r>
            <a:r>
              <a:rPr dirty="0" sz="2000" spc="-55">
                <a:latin typeface="Consolas"/>
                <a:cs typeface="Consolas"/>
              </a:rPr>
              <a:t> </a:t>
            </a:r>
            <a:r>
              <a:rPr dirty="0" sz="2000" spc="-10">
                <a:latin typeface="Consolas"/>
                <a:cs typeface="Consolas"/>
              </a:rPr>
              <a:t>Detection</a:t>
            </a:r>
            <a:endParaRPr sz="2000">
              <a:latin typeface="Consolas"/>
              <a:cs typeface="Consolas"/>
            </a:endParaRPr>
          </a:p>
          <a:p>
            <a:pPr marL="851535">
              <a:lnSpc>
                <a:spcPct val="100000"/>
              </a:lnSpc>
              <a:spcBef>
                <a:spcPts val="455"/>
              </a:spcBef>
            </a:pPr>
            <a:r>
              <a:rPr dirty="0" sz="2000" spc="-50">
                <a:latin typeface="Consolas"/>
                <a:cs typeface="Consolas"/>
              </a:rPr>
              <a:t>↓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000">
                <a:latin typeface="Consolas"/>
                <a:cs typeface="Consolas"/>
              </a:rPr>
              <a:t>Temporal</a:t>
            </a:r>
            <a:r>
              <a:rPr dirty="0" sz="2000" spc="-35">
                <a:latin typeface="Consolas"/>
                <a:cs typeface="Consolas"/>
              </a:rPr>
              <a:t> </a:t>
            </a:r>
            <a:r>
              <a:rPr dirty="0" sz="2000" spc="-10">
                <a:latin typeface="Consolas"/>
                <a:cs typeface="Consolas"/>
              </a:rPr>
              <a:t>Grouping</a:t>
            </a:r>
            <a:endParaRPr sz="2000">
              <a:latin typeface="Consolas"/>
              <a:cs typeface="Consolas"/>
            </a:endParaRPr>
          </a:p>
          <a:p>
            <a:pPr marL="851535">
              <a:lnSpc>
                <a:spcPct val="100000"/>
              </a:lnSpc>
              <a:spcBef>
                <a:spcPts val="530"/>
              </a:spcBef>
            </a:pPr>
            <a:r>
              <a:rPr dirty="0" sz="2000" spc="-50">
                <a:latin typeface="Consolas"/>
                <a:cs typeface="Consolas"/>
              </a:rPr>
              <a:t>↓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000">
                <a:latin typeface="Consolas"/>
                <a:cs typeface="Consolas"/>
              </a:rPr>
              <a:t>Abnormal</a:t>
            </a:r>
            <a:r>
              <a:rPr dirty="0" sz="2000" spc="-60">
                <a:latin typeface="Consolas"/>
                <a:cs typeface="Consolas"/>
              </a:rPr>
              <a:t> </a:t>
            </a:r>
            <a:r>
              <a:rPr dirty="0" sz="2000" spc="-10">
                <a:latin typeface="Consolas"/>
                <a:cs typeface="Consolas"/>
              </a:rPr>
              <a:t>Periods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27" y="2967355"/>
            <a:ext cx="1772285" cy="701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-1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6501" y="4500498"/>
            <a:ext cx="2038350" cy="2038985"/>
          </a:xfrm>
          <a:custGeom>
            <a:avLst/>
            <a:gdLst/>
            <a:ahLst/>
            <a:cxnLst/>
            <a:rect l="l" t="t" r="r" b="b"/>
            <a:pathLst>
              <a:path w="2038350" h="2038984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29454" y="271843"/>
            <a:ext cx="6203950" cy="553847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200" b="1">
                <a:latin typeface="Calibri"/>
                <a:cs typeface="Calibri"/>
              </a:rPr>
              <a:t>Records</a:t>
            </a:r>
            <a:r>
              <a:rPr dirty="0" sz="2750" spc="-30" b="1">
                <a:latin typeface="Calibri"/>
                <a:cs typeface="Calibri"/>
              </a:rPr>
              <a:t> </a:t>
            </a:r>
            <a:r>
              <a:rPr dirty="0" sz="2750" spc="140" b="1">
                <a:latin typeface="Calibri"/>
                <a:cs typeface="Calibri"/>
              </a:rPr>
              <a:t>analyzed:</a:t>
            </a:r>
            <a:r>
              <a:rPr dirty="0" sz="2750" spc="-25" b="1">
                <a:latin typeface="Calibri"/>
                <a:cs typeface="Calibri"/>
              </a:rPr>
              <a:t> </a:t>
            </a:r>
            <a:r>
              <a:rPr dirty="0" sz="2750" spc="75">
                <a:latin typeface="Calibri"/>
                <a:cs typeface="Calibri"/>
              </a:rPr>
              <a:t>376,124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60" b="1">
                <a:latin typeface="Calibri"/>
                <a:cs typeface="Calibri"/>
              </a:rPr>
              <a:t>Anomalous</a:t>
            </a:r>
            <a:r>
              <a:rPr dirty="0" sz="2750" spc="-5" b="1">
                <a:latin typeface="Calibri"/>
                <a:cs typeface="Calibri"/>
              </a:rPr>
              <a:t> </a:t>
            </a:r>
            <a:r>
              <a:rPr dirty="0" sz="2750" spc="140" b="1">
                <a:latin typeface="Calibri"/>
                <a:cs typeface="Calibri"/>
              </a:rPr>
              <a:t>observations:</a:t>
            </a:r>
            <a:r>
              <a:rPr dirty="0" sz="2750" spc="30" b="1">
                <a:latin typeface="Calibri"/>
                <a:cs typeface="Calibri"/>
              </a:rPr>
              <a:t> </a:t>
            </a:r>
            <a:r>
              <a:rPr dirty="0" sz="2750" spc="75">
                <a:latin typeface="Calibri"/>
                <a:cs typeface="Calibri"/>
              </a:rPr>
              <a:t>3,762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35" b="1">
                <a:latin typeface="Calibri"/>
                <a:cs typeface="Calibri"/>
              </a:rPr>
              <a:t>Anomaly</a:t>
            </a:r>
            <a:r>
              <a:rPr dirty="0" sz="2750" spc="-30" b="1">
                <a:latin typeface="Calibri"/>
                <a:cs typeface="Calibri"/>
              </a:rPr>
              <a:t> </a:t>
            </a:r>
            <a:r>
              <a:rPr dirty="0" sz="2750" spc="145" b="1">
                <a:latin typeface="Calibri"/>
                <a:cs typeface="Calibri"/>
              </a:rPr>
              <a:t>percentage:</a:t>
            </a:r>
            <a:r>
              <a:rPr dirty="0" sz="2750" spc="-10" b="1">
                <a:latin typeface="Calibri"/>
                <a:cs typeface="Calibri"/>
              </a:rPr>
              <a:t> </a:t>
            </a:r>
            <a:r>
              <a:rPr dirty="0" sz="2750" spc="125">
                <a:latin typeface="Calibri"/>
                <a:cs typeface="Calibri"/>
              </a:rPr>
              <a:t>1.00%</a:t>
            </a:r>
            <a:endParaRPr sz="27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750" spc="135" b="1">
                <a:latin typeface="Calibri"/>
                <a:cs typeface="Calibri"/>
              </a:rPr>
              <a:t>Abnormal</a:t>
            </a:r>
            <a:r>
              <a:rPr dirty="0" sz="2750" spc="-75" b="1">
                <a:latin typeface="Calibri"/>
                <a:cs typeface="Calibri"/>
              </a:rPr>
              <a:t> </a:t>
            </a:r>
            <a:r>
              <a:rPr dirty="0" sz="2750" spc="150" b="1">
                <a:latin typeface="Calibri"/>
                <a:cs typeface="Calibri"/>
              </a:rPr>
              <a:t>periods</a:t>
            </a:r>
            <a:r>
              <a:rPr dirty="0" sz="2750" spc="-15" b="1">
                <a:latin typeface="Calibri"/>
                <a:cs typeface="Calibri"/>
              </a:rPr>
              <a:t> </a:t>
            </a:r>
            <a:r>
              <a:rPr dirty="0" sz="2750" spc="105" b="1">
                <a:latin typeface="Calibri"/>
                <a:cs typeface="Calibri"/>
              </a:rPr>
              <a:t>identified:</a:t>
            </a:r>
            <a:r>
              <a:rPr dirty="0" sz="2750" spc="15" b="1">
                <a:latin typeface="Calibri"/>
                <a:cs typeface="Calibri"/>
              </a:rPr>
              <a:t> </a:t>
            </a:r>
            <a:r>
              <a:rPr dirty="0" sz="2750" spc="70">
                <a:latin typeface="Calibri"/>
                <a:cs typeface="Calibri"/>
              </a:rPr>
              <a:t>577</a:t>
            </a:r>
            <a:endParaRPr sz="2750">
              <a:latin typeface="Calibri"/>
              <a:cs typeface="Calibri"/>
            </a:endParaRPr>
          </a:p>
          <a:p>
            <a:pPr marL="240029" marR="165100" indent="-227965">
              <a:lnSpc>
                <a:spcPts val="30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 spc="135">
                <a:latin typeface="Calibri"/>
                <a:cs typeface="Calibri"/>
              </a:rPr>
              <a:t>Consecutive</a:t>
            </a:r>
            <a:r>
              <a:rPr dirty="0" sz="2750" spc="-45">
                <a:latin typeface="Calibri"/>
                <a:cs typeface="Calibri"/>
              </a:rPr>
              <a:t> </a:t>
            </a:r>
            <a:r>
              <a:rPr dirty="0" sz="2750" spc="135">
                <a:latin typeface="Calibri"/>
                <a:cs typeface="Calibri"/>
              </a:rPr>
              <a:t>anomalous</a:t>
            </a:r>
            <a:r>
              <a:rPr dirty="0" sz="2750" spc="-5">
                <a:latin typeface="Calibri"/>
                <a:cs typeface="Calibri"/>
              </a:rPr>
              <a:t> </a:t>
            </a:r>
            <a:r>
              <a:rPr dirty="0" sz="2750" spc="80">
                <a:latin typeface="Calibri"/>
                <a:cs typeface="Calibri"/>
              </a:rPr>
              <a:t>observations </a:t>
            </a:r>
            <a:r>
              <a:rPr dirty="0" sz="2750" spc="80">
                <a:latin typeface="Calibri"/>
                <a:cs typeface="Calibri"/>
              </a:rPr>
              <a:t>	</a:t>
            </a:r>
            <a:r>
              <a:rPr dirty="0" sz="2750">
                <a:latin typeface="Calibri"/>
                <a:cs typeface="Calibri"/>
              </a:rPr>
              <a:t>were</a:t>
            </a:r>
            <a:r>
              <a:rPr dirty="0" sz="2750" spc="-20">
                <a:latin typeface="Calibri"/>
                <a:cs typeface="Calibri"/>
              </a:rPr>
              <a:t> </a:t>
            </a:r>
            <a:r>
              <a:rPr dirty="0" sz="2750" spc="75">
                <a:latin typeface="Calibri"/>
                <a:cs typeface="Calibri"/>
              </a:rPr>
              <a:t>grouped</a:t>
            </a:r>
            <a:r>
              <a:rPr dirty="0" sz="2750" spc="-40">
                <a:latin typeface="Calibri"/>
                <a:cs typeface="Calibri"/>
              </a:rPr>
              <a:t> </a:t>
            </a:r>
            <a:r>
              <a:rPr dirty="0" sz="2750" spc="50">
                <a:latin typeface="Calibri"/>
                <a:cs typeface="Calibri"/>
              </a:rPr>
              <a:t>into</a:t>
            </a:r>
            <a:r>
              <a:rPr dirty="0" sz="2750" spc="15">
                <a:latin typeface="Calibri"/>
                <a:cs typeface="Calibri"/>
              </a:rPr>
              <a:t> </a:t>
            </a:r>
            <a:r>
              <a:rPr dirty="0" sz="2750" spc="145" b="1">
                <a:latin typeface="Calibri"/>
                <a:cs typeface="Calibri"/>
              </a:rPr>
              <a:t>abnormal</a:t>
            </a:r>
            <a:r>
              <a:rPr dirty="0" sz="2750" spc="30" b="1">
                <a:latin typeface="Calibri"/>
                <a:cs typeface="Calibri"/>
              </a:rPr>
              <a:t> </a:t>
            </a:r>
            <a:r>
              <a:rPr dirty="0" sz="2750" spc="130" b="1">
                <a:latin typeface="Calibri"/>
                <a:cs typeface="Calibri"/>
              </a:rPr>
              <a:t>periods</a:t>
            </a:r>
            <a:r>
              <a:rPr dirty="0" sz="2750" spc="130">
                <a:latin typeface="Calibri"/>
                <a:cs typeface="Calibri"/>
              </a:rPr>
              <a:t>.</a:t>
            </a:r>
            <a:endParaRPr sz="2750">
              <a:latin typeface="Calibri"/>
              <a:cs typeface="Calibri"/>
            </a:endParaRPr>
          </a:p>
          <a:p>
            <a:pPr marL="240029" marR="120014" indent="-227965">
              <a:lnSpc>
                <a:spcPts val="301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 spc="180">
                <a:latin typeface="Calibri"/>
                <a:cs typeface="Calibri"/>
              </a:rPr>
              <a:t>Each</a:t>
            </a:r>
            <a:r>
              <a:rPr dirty="0" sz="2750" spc="25">
                <a:latin typeface="Calibri"/>
                <a:cs typeface="Calibri"/>
              </a:rPr>
              <a:t> </a:t>
            </a:r>
            <a:r>
              <a:rPr dirty="0" sz="2750" spc="55">
                <a:latin typeface="Calibri"/>
                <a:cs typeface="Calibri"/>
              </a:rPr>
              <a:t>period</a:t>
            </a:r>
            <a:r>
              <a:rPr dirty="0" sz="2750">
                <a:latin typeface="Calibri"/>
                <a:cs typeface="Calibri"/>
              </a:rPr>
              <a:t> </a:t>
            </a:r>
            <a:r>
              <a:rPr dirty="0" sz="2750" spc="140">
                <a:latin typeface="Calibri"/>
                <a:cs typeface="Calibri"/>
              </a:rPr>
              <a:t>was</a:t>
            </a:r>
            <a:r>
              <a:rPr dirty="0" sz="2750" spc="-15">
                <a:latin typeface="Calibri"/>
                <a:cs typeface="Calibri"/>
              </a:rPr>
              <a:t> </a:t>
            </a:r>
            <a:r>
              <a:rPr dirty="0" sz="2750" spc="120">
                <a:latin typeface="Calibri"/>
                <a:cs typeface="Calibri"/>
              </a:rPr>
              <a:t>summarized</a:t>
            </a:r>
            <a:r>
              <a:rPr dirty="0" sz="2750" spc="-75">
                <a:latin typeface="Calibri"/>
                <a:cs typeface="Calibri"/>
              </a:rPr>
              <a:t> </a:t>
            </a:r>
            <a:r>
              <a:rPr dirty="0" sz="2750" spc="114">
                <a:latin typeface="Calibri"/>
                <a:cs typeface="Calibri"/>
              </a:rPr>
              <a:t>using</a:t>
            </a:r>
            <a:r>
              <a:rPr dirty="0" sz="2750" spc="-85">
                <a:latin typeface="Calibri"/>
                <a:cs typeface="Calibri"/>
              </a:rPr>
              <a:t> </a:t>
            </a:r>
            <a:r>
              <a:rPr dirty="0" sz="2750" spc="65">
                <a:latin typeface="Calibri"/>
                <a:cs typeface="Calibri"/>
              </a:rPr>
              <a:t>its </a:t>
            </a:r>
            <a:r>
              <a:rPr dirty="0" sz="2750" spc="65">
                <a:latin typeface="Calibri"/>
                <a:cs typeface="Calibri"/>
              </a:rPr>
              <a:t>	</a:t>
            </a:r>
            <a:r>
              <a:rPr dirty="0" sz="2750" spc="125" b="1">
                <a:latin typeface="Calibri"/>
                <a:cs typeface="Calibri"/>
              </a:rPr>
              <a:t>start</a:t>
            </a:r>
            <a:r>
              <a:rPr dirty="0" sz="2750" spc="-30" b="1">
                <a:latin typeface="Calibri"/>
                <a:cs typeface="Calibri"/>
              </a:rPr>
              <a:t> </a:t>
            </a:r>
            <a:r>
              <a:rPr dirty="0" sz="2750" spc="105" b="1">
                <a:latin typeface="Calibri"/>
                <a:cs typeface="Calibri"/>
              </a:rPr>
              <a:t>time,</a:t>
            </a:r>
            <a:r>
              <a:rPr dirty="0" sz="2750" spc="-20" b="1">
                <a:latin typeface="Calibri"/>
                <a:cs typeface="Calibri"/>
              </a:rPr>
              <a:t> </a:t>
            </a:r>
            <a:r>
              <a:rPr dirty="0" sz="2750" spc="160" b="1">
                <a:latin typeface="Calibri"/>
                <a:cs typeface="Calibri"/>
              </a:rPr>
              <a:t>end</a:t>
            </a:r>
            <a:r>
              <a:rPr dirty="0" sz="2750" spc="-70" b="1">
                <a:latin typeface="Calibri"/>
                <a:cs typeface="Calibri"/>
              </a:rPr>
              <a:t> </a:t>
            </a:r>
            <a:r>
              <a:rPr dirty="0" sz="2750" spc="120" b="1">
                <a:latin typeface="Calibri"/>
                <a:cs typeface="Calibri"/>
              </a:rPr>
              <a:t>time,</a:t>
            </a:r>
            <a:r>
              <a:rPr dirty="0" sz="2750" spc="-20" b="1">
                <a:latin typeface="Calibri"/>
                <a:cs typeface="Calibri"/>
              </a:rPr>
              <a:t> </a:t>
            </a:r>
            <a:r>
              <a:rPr dirty="0" sz="2750" spc="145" b="1">
                <a:latin typeface="Calibri"/>
                <a:cs typeface="Calibri"/>
              </a:rPr>
              <a:t>and</a:t>
            </a:r>
            <a:r>
              <a:rPr dirty="0" sz="2750" spc="-70" b="1">
                <a:latin typeface="Calibri"/>
                <a:cs typeface="Calibri"/>
              </a:rPr>
              <a:t> </a:t>
            </a:r>
            <a:r>
              <a:rPr dirty="0" sz="2750" spc="155" b="1">
                <a:latin typeface="Calibri"/>
                <a:cs typeface="Calibri"/>
              </a:rPr>
              <a:t>number</a:t>
            </a:r>
            <a:r>
              <a:rPr dirty="0" sz="2750" spc="-65" b="1">
                <a:latin typeface="Calibri"/>
                <a:cs typeface="Calibri"/>
              </a:rPr>
              <a:t> </a:t>
            </a:r>
            <a:r>
              <a:rPr dirty="0" sz="2750" spc="50" b="1">
                <a:latin typeface="Calibri"/>
                <a:cs typeface="Calibri"/>
              </a:rPr>
              <a:t>of </a:t>
            </a:r>
            <a:r>
              <a:rPr dirty="0" sz="2750" spc="50" b="1">
                <a:latin typeface="Calibri"/>
                <a:cs typeface="Calibri"/>
              </a:rPr>
              <a:t>	</a:t>
            </a:r>
            <a:r>
              <a:rPr dirty="0" sz="2750" spc="180" b="1">
                <a:latin typeface="Calibri"/>
                <a:cs typeface="Calibri"/>
              </a:rPr>
              <a:t>anomalous</a:t>
            </a:r>
            <a:r>
              <a:rPr dirty="0" sz="2750" spc="-35" b="1">
                <a:latin typeface="Calibri"/>
                <a:cs typeface="Calibri"/>
              </a:rPr>
              <a:t> </a:t>
            </a:r>
            <a:r>
              <a:rPr dirty="0" sz="2750" spc="150" b="1">
                <a:latin typeface="Calibri"/>
                <a:cs typeface="Calibri"/>
              </a:rPr>
              <a:t>records</a:t>
            </a:r>
            <a:r>
              <a:rPr dirty="0" sz="2750" spc="150">
                <a:latin typeface="Calibri"/>
                <a:cs typeface="Calibri"/>
              </a:rPr>
              <a:t>.</a:t>
            </a:r>
            <a:endParaRPr sz="2750">
              <a:latin typeface="Calibri"/>
              <a:cs typeface="Calibri"/>
            </a:endParaRPr>
          </a:p>
          <a:p>
            <a:pPr marL="240029" marR="5080" indent="-227965">
              <a:lnSpc>
                <a:spcPct val="922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75">
                <a:latin typeface="Calibri"/>
                <a:cs typeface="Calibri"/>
              </a:rPr>
              <a:t> </a:t>
            </a:r>
            <a:r>
              <a:rPr dirty="0" sz="2750" spc="65">
                <a:latin typeface="Calibri"/>
                <a:cs typeface="Calibri"/>
              </a:rPr>
              <a:t>final</a:t>
            </a:r>
            <a:r>
              <a:rPr dirty="0" sz="2750" spc="-15">
                <a:latin typeface="Calibri"/>
                <a:cs typeface="Calibri"/>
              </a:rPr>
              <a:t> </a:t>
            </a:r>
            <a:r>
              <a:rPr dirty="0" sz="2750" spc="80">
                <a:latin typeface="Calibri"/>
                <a:cs typeface="Calibri"/>
              </a:rPr>
              <a:t>visualization</a:t>
            </a:r>
            <a:r>
              <a:rPr dirty="0" sz="2750" spc="90">
                <a:latin typeface="Calibri"/>
                <a:cs typeface="Calibri"/>
              </a:rPr>
              <a:t> </a:t>
            </a:r>
            <a:r>
              <a:rPr dirty="0" sz="2750" spc="55">
                <a:latin typeface="Calibri"/>
                <a:cs typeface="Calibri"/>
              </a:rPr>
              <a:t>highlights </a:t>
            </a:r>
            <a:r>
              <a:rPr dirty="0" sz="2750" spc="55">
                <a:latin typeface="Calibri"/>
                <a:cs typeface="Calibri"/>
              </a:rPr>
              <a:t>	</a:t>
            </a:r>
            <a:r>
              <a:rPr dirty="0" sz="2750" spc="135">
                <a:latin typeface="Calibri"/>
                <a:cs typeface="Calibri"/>
              </a:rPr>
              <a:t>anomalous</a:t>
            </a:r>
            <a:r>
              <a:rPr dirty="0" sz="2750" spc="-10">
                <a:latin typeface="Calibri"/>
                <a:cs typeface="Calibri"/>
              </a:rPr>
              <a:t> </a:t>
            </a:r>
            <a:r>
              <a:rPr dirty="0" sz="2750" spc="90">
                <a:latin typeface="Calibri"/>
                <a:cs typeface="Calibri"/>
              </a:rPr>
              <a:t>observations</a:t>
            </a:r>
            <a:r>
              <a:rPr dirty="0" sz="2750" spc="-5">
                <a:latin typeface="Calibri"/>
                <a:cs typeface="Calibri"/>
              </a:rPr>
              <a:t> </a:t>
            </a:r>
            <a:r>
              <a:rPr dirty="0" sz="2750" spc="175">
                <a:latin typeface="Calibri"/>
                <a:cs typeface="Calibri"/>
              </a:rPr>
              <a:t>across</a:t>
            </a:r>
            <a:r>
              <a:rPr dirty="0" sz="2750" spc="-85">
                <a:latin typeface="Calibri"/>
                <a:cs typeface="Calibri"/>
              </a:rPr>
              <a:t> </a:t>
            </a:r>
            <a:r>
              <a:rPr dirty="0" sz="2750" spc="55">
                <a:latin typeface="Calibri"/>
                <a:cs typeface="Calibri"/>
              </a:rPr>
              <a:t>the</a:t>
            </a:r>
            <a:r>
              <a:rPr dirty="0" sz="2750" spc="-45">
                <a:latin typeface="Calibri"/>
                <a:cs typeface="Calibri"/>
              </a:rPr>
              <a:t> </a:t>
            </a:r>
            <a:r>
              <a:rPr dirty="0" sz="2750" spc="90">
                <a:latin typeface="Calibri"/>
                <a:cs typeface="Calibri"/>
              </a:rPr>
              <a:t>six </a:t>
            </a:r>
            <a:r>
              <a:rPr dirty="0" sz="2750" spc="90">
                <a:latin typeface="Calibri"/>
                <a:cs typeface="Calibri"/>
              </a:rPr>
              <a:t>	</a:t>
            </a:r>
            <a:r>
              <a:rPr dirty="0" sz="2750" spc="125">
                <a:latin typeface="Calibri"/>
                <a:cs typeface="Calibri"/>
              </a:rPr>
              <a:t>sensor</a:t>
            </a:r>
            <a:r>
              <a:rPr dirty="0" sz="2750" spc="-35">
                <a:latin typeface="Calibri"/>
                <a:cs typeface="Calibri"/>
              </a:rPr>
              <a:t> </a:t>
            </a:r>
            <a:r>
              <a:rPr dirty="0" sz="2750" spc="75">
                <a:latin typeface="Calibri"/>
                <a:cs typeface="Calibri"/>
              </a:rPr>
              <a:t>parameters.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127" y="2967355"/>
            <a:ext cx="2606040" cy="701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5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6501" y="4500498"/>
            <a:ext cx="2038350" cy="2038985"/>
          </a:xfrm>
          <a:custGeom>
            <a:avLst/>
            <a:gdLst/>
            <a:ahLst/>
            <a:cxnLst/>
            <a:rect l="l" t="t" r="r" b="b"/>
            <a:pathLst>
              <a:path w="2038350" h="2038984">
                <a:moveTo>
                  <a:pt x="0" y="2038413"/>
                </a:moveTo>
                <a:lnTo>
                  <a:pt x="48112" y="2037856"/>
                </a:lnTo>
                <a:lnTo>
                  <a:pt x="95952" y="2036194"/>
                </a:lnTo>
                <a:lnTo>
                  <a:pt x="143507" y="2033439"/>
                </a:lnTo>
                <a:lnTo>
                  <a:pt x="190763" y="2029604"/>
                </a:lnTo>
                <a:lnTo>
                  <a:pt x="237710" y="2024700"/>
                </a:lnTo>
                <a:lnTo>
                  <a:pt x="284335" y="2018739"/>
                </a:lnTo>
                <a:lnTo>
                  <a:pt x="330625" y="2011734"/>
                </a:lnTo>
                <a:lnTo>
                  <a:pt x="376569" y="2003698"/>
                </a:lnTo>
                <a:lnTo>
                  <a:pt x="422154" y="1994642"/>
                </a:lnTo>
                <a:lnTo>
                  <a:pt x="467368" y="1984579"/>
                </a:lnTo>
                <a:lnTo>
                  <a:pt x="512198" y="1973520"/>
                </a:lnTo>
                <a:lnTo>
                  <a:pt x="556633" y="1961479"/>
                </a:lnTo>
                <a:lnTo>
                  <a:pt x="600660" y="1948467"/>
                </a:lnTo>
                <a:lnTo>
                  <a:pt x="644267" y="1934496"/>
                </a:lnTo>
                <a:lnTo>
                  <a:pt x="687442" y="1919580"/>
                </a:lnTo>
                <a:lnTo>
                  <a:pt x="730173" y="1903729"/>
                </a:lnTo>
                <a:lnTo>
                  <a:pt x="772446" y="1886957"/>
                </a:lnTo>
                <a:lnTo>
                  <a:pt x="814251" y="1869275"/>
                </a:lnTo>
                <a:lnTo>
                  <a:pt x="855575" y="1850696"/>
                </a:lnTo>
                <a:lnTo>
                  <a:pt x="896405" y="1831232"/>
                </a:lnTo>
                <a:lnTo>
                  <a:pt x="936729" y="1810895"/>
                </a:lnTo>
                <a:lnTo>
                  <a:pt x="976536" y="1789698"/>
                </a:lnTo>
                <a:lnTo>
                  <a:pt x="1015812" y="1767652"/>
                </a:lnTo>
                <a:lnTo>
                  <a:pt x="1054546" y="1744770"/>
                </a:lnTo>
                <a:lnTo>
                  <a:pt x="1092725" y="1721064"/>
                </a:lnTo>
                <a:lnTo>
                  <a:pt x="1130338" y="1696547"/>
                </a:lnTo>
                <a:lnTo>
                  <a:pt x="1167371" y="1671231"/>
                </a:lnTo>
                <a:lnTo>
                  <a:pt x="1203813" y="1645127"/>
                </a:lnTo>
                <a:lnTo>
                  <a:pt x="1239652" y="1618248"/>
                </a:lnTo>
                <a:lnTo>
                  <a:pt x="1274874" y="1590607"/>
                </a:lnTo>
                <a:lnTo>
                  <a:pt x="1309469" y="1562215"/>
                </a:lnTo>
                <a:lnTo>
                  <a:pt x="1343423" y="1533085"/>
                </a:lnTo>
                <a:lnTo>
                  <a:pt x="1376725" y="1503229"/>
                </a:lnTo>
                <a:lnTo>
                  <a:pt x="1409362" y="1472659"/>
                </a:lnTo>
                <a:lnTo>
                  <a:pt x="1441323" y="1441388"/>
                </a:lnTo>
                <a:lnTo>
                  <a:pt x="1472593" y="1409427"/>
                </a:lnTo>
                <a:lnTo>
                  <a:pt x="1503163" y="1376789"/>
                </a:lnTo>
                <a:lnTo>
                  <a:pt x="1533019" y="1343487"/>
                </a:lnTo>
                <a:lnTo>
                  <a:pt x="1562148" y="1309532"/>
                </a:lnTo>
                <a:lnTo>
                  <a:pt x="1590540" y="1274937"/>
                </a:lnTo>
                <a:lnTo>
                  <a:pt x="1618181" y="1239713"/>
                </a:lnTo>
                <a:lnTo>
                  <a:pt x="1645060" y="1203874"/>
                </a:lnTo>
                <a:lnTo>
                  <a:pt x="1671164" y="1167431"/>
                </a:lnTo>
                <a:lnTo>
                  <a:pt x="1696480" y="1130397"/>
                </a:lnTo>
                <a:lnTo>
                  <a:pt x="1720998" y="1092783"/>
                </a:lnTo>
                <a:lnTo>
                  <a:pt x="1744703" y="1054603"/>
                </a:lnTo>
                <a:lnTo>
                  <a:pt x="1767585" y="1015868"/>
                </a:lnTo>
                <a:lnTo>
                  <a:pt x="1789631" y="976590"/>
                </a:lnTo>
                <a:lnTo>
                  <a:pt x="1810828" y="936782"/>
                </a:lnTo>
                <a:lnTo>
                  <a:pt x="1831165" y="896456"/>
                </a:lnTo>
                <a:lnTo>
                  <a:pt x="1850630" y="855625"/>
                </a:lnTo>
                <a:lnTo>
                  <a:pt x="1869209" y="814299"/>
                </a:lnTo>
                <a:lnTo>
                  <a:pt x="1886891" y="772493"/>
                </a:lnTo>
                <a:lnTo>
                  <a:pt x="1903663" y="730217"/>
                </a:lnTo>
                <a:lnTo>
                  <a:pt x="1919514" y="687485"/>
                </a:lnTo>
                <a:lnTo>
                  <a:pt x="1934431" y="644308"/>
                </a:lnTo>
                <a:lnTo>
                  <a:pt x="1948402" y="600699"/>
                </a:lnTo>
                <a:lnTo>
                  <a:pt x="1961414" y="556669"/>
                </a:lnTo>
                <a:lnTo>
                  <a:pt x="1973455" y="512232"/>
                </a:lnTo>
                <a:lnTo>
                  <a:pt x="1984514" y="467399"/>
                </a:lnTo>
                <a:lnTo>
                  <a:pt x="1994578" y="422183"/>
                </a:lnTo>
                <a:lnTo>
                  <a:pt x="2003634" y="376595"/>
                </a:lnTo>
                <a:lnTo>
                  <a:pt x="2011670" y="330649"/>
                </a:lnTo>
                <a:lnTo>
                  <a:pt x="2018675" y="284355"/>
                </a:lnTo>
                <a:lnTo>
                  <a:pt x="2024636" y="237728"/>
                </a:lnTo>
                <a:lnTo>
                  <a:pt x="2029540" y="190777"/>
                </a:lnTo>
                <a:lnTo>
                  <a:pt x="2033376" y="143517"/>
                </a:lnTo>
                <a:lnTo>
                  <a:pt x="2036131" y="95960"/>
                </a:lnTo>
                <a:lnTo>
                  <a:pt x="2037793" y="48116"/>
                </a:lnTo>
                <a:lnTo>
                  <a:pt x="2038350" y="0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29454" y="490219"/>
            <a:ext cx="6553834" cy="518985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marR="5080" indent="-227965">
              <a:lnSpc>
                <a:spcPct val="922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40">
                <a:latin typeface="Calibri"/>
                <a:cs typeface="Calibri"/>
              </a:rPr>
              <a:t> </a:t>
            </a:r>
            <a:r>
              <a:rPr dirty="0" sz="2750" spc="125">
                <a:latin typeface="Calibri"/>
                <a:cs typeface="Calibri"/>
              </a:rPr>
              <a:t>cyclone</a:t>
            </a:r>
            <a:r>
              <a:rPr dirty="0" sz="2750" spc="45">
                <a:latin typeface="Calibri"/>
                <a:cs typeface="Calibri"/>
              </a:rPr>
              <a:t> preheater</a:t>
            </a:r>
            <a:r>
              <a:rPr dirty="0" sz="2750" spc="50">
                <a:latin typeface="Calibri"/>
                <a:cs typeface="Calibri"/>
              </a:rPr>
              <a:t> </a:t>
            </a:r>
            <a:r>
              <a:rPr dirty="0" sz="2750" spc="85">
                <a:latin typeface="Calibri"/>
                <a:cs typeface="Calibri"/>
              </a:rPr>
              <a:t>data</a:t>
            </a:r>
            <a:r>
              <a:rPr dirty="0" sz="2750" spc="-40">
                <a:latin typeface="Calibri"/>
                <a:cs typeface="Calibri"/>
              </a:rPr>
              <a:t> </a:t>
            </a:r>
            <a:r>
              <a:rPr dirty="0" sz="2750" spc="165">
                <a:latin typeface="Calibri"/>
                <a:cs typeface="Calibri"/>
              </a:rPr>
              <a:t>was</a:t>
            </a:r>
            <a:r>
              <a:rPr dirty="0" sz="2750" spc="5">
                <a:latin typeface="Calibri"/>
                <a:cs typeface="Calibri"/>
              </a:rPr>
              <a:t> </a:t>
            </a:r>
            <a:r>
              <a:rPr dirty="0" sz="2750" spc="55">
                <a:latin typeface="Calibri"/>
                <a:cs typeface="Calibri"/>
              </a:rPr>
              <a:t>prepared </a:t>
            </a:r>
            <a:r>
              <a:rPr dirty="0" sz="2750" spc="55">
                <a:latin typeface="Calibri"/>
                <a:cs typeface="Calibri"/>
              </a:rPr>
              <a:t>	</a:t>
            </a:r>
            <a:r>
              <a:rPr dirty="0" sz="2750" spc="105">
                <a:latin typeface="Calibri"/>
                <a:cs typeface="Calibri"/>
              </a:rPr>
              <a:t>and</a:t>
            </a:r>
            <a:r>
              <a:rPr dirty="0" sz="2750" spc="15">
                <a:latin typeface="Calibri"/>
                <a:cs typeface="Calibri"/>
              </a:rPr>
              <a:t> </a:t>
            </a:r>
            <a:r>
              <a:rPr dirty="0" sz="2750" spc="95">
                <a:latin typeface="Calibri"/>
                <a:cs typeface="Calibri"/>
              </a:rPr>
              <a:t>analyzed</a:t>
            </a:r>
            <a:r>
              <a:rPr dirty="0" sz="2750" spc="15">
                <a:latin typeface="Calibri"/>
                <a:cs typeface="Calibri"/>
              </a:rPr>
              <a:t> </a:t>
            </a:r>
            <a:r>
              <a:rPr dirty="0" sz="2750" spc="100">
                <a:latin typeface="Calibri"/>
                <a:cs typeface="Calibri"/>
              </a:rPr>
              <a:t>using</a:t>
            </a:r>
            <a:r>
              <a:rPr dirty="0" sz="2750" spc="1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30">
                <a:latin typeface="Calibri"/>
                <a:cs typeface="Calibri"/>
              </a:rPr>
              <a:t> </a:t>
            </a:r>
            <a:r>
              <a:rPr dirty="0" sz="2750" spc="114">
                <a:latin typeface="Calibri"/>
                <a:cs typeface="Calibri"/>
              </a:rPr>
              <a:t>six</a:t>
            </a:r>
            <a:r>
              <a:rPr dirty="0" sz="2750" spc="-30">
                <a:latin typeface="Calibri"/>
                <a:cs typeface="Calibri"/>
              </a:rPr>
              <a:t> </a:t>
            </a:r>
            <a:r>
              <a:rPr dirty="0" sz="2750" spc="140">
                <a:latin typeface="Calibri"/>
                <a:cs typeface="Calibri"/>
              </a:rPr>
              <a:t>process </a:t>
            </a:r>
            <a:r>
              <a:rPr dirty="0" sz="2750" spc="140">
                <a:latin typeface="Calibri"/>
                <a:cs typeface="Calibri"/>
              </a:rPr>
              <a:t>	</a:t>
            </a:r>
            <a:r>
              <a:rPr dirty="0" sz="2750" spc="85">
                <a:latin typeface="Calibri"/>
                <a:cs typeface="Calibri"/>
              </a:rPr>
              <a:t>variables.</a:t>
            </a:r>
            <a:endParaRPr sz="2750">
              <a:latin typeface="Calibri"/>
              <a:cs typeface="Calibri"/>
            </a:endParaRPr>
          </a:p>
          <a:p>
            <a:pPr marL="240029" marR="758190" indent="-227965">
              <a:lnSpc>
                <a:spcPts val="3000"/>
              </a:lnSpc>
              <a:spcBef>
                <a:spcPts val="1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 spc="130" b="1">
                <a:latin typeface="Calibri"/>
                <a:cs typeface="Calibri"/>
              </a:rPr>
              <a:t>Isolation</a:t>
            </a:r>
            <a:r>
              <a:rPr dirty="0" sz="2750" spc="-40" b="1">
                <a:latin typeface="Calibri"/>
                <a:cs typeface="Calibri"/>
              </a:rPr>
              <a:t> </a:t>
            </a:r>
            <a:r>
              <a:rPr dirty="0" sz="2750" spc="140" b="1">
                <a:latin typeface="Calibri"/>
                <a:cs typeface="Calibri"/>
              </a:rPr>
              <a:t>Forest</a:t>
            </a:r>
            <a:r>
              <a:rPr dirty="0" sz="2750" spc="50" b="1">
                <a:latin typeface="Calibri"/>
                <a:cs typeface="Calibri"/>
              </a:rPr>
              <a:t> </a:t>
            </a:r>
            <a:r>
              <a:rPr dirty="0" sz="2750" spc="165">
                <a:latin typeface="Calibri"/>
                <a:cs typeface="Calibri"/>
              </a:rPr>
              <a:t>was</a:t>
            </a:r>
            <a:r>
              <a:rPr dirty="0" sz="2750" spc="-75">
                <a:latin typeface="Calibri"/>
                <a:cs typeface="Calibri"/>
              </a:rPr>
              <a:t> </a:t>
            </a:r>
            <a:r>
              <a:rPr dirty="0" sz="2750" spc="155">
                <a:latin typeface="Calibri"/>
                <a:cs typeface="Calibri"/>
              </a:rPr>
              <a:t>used</a:t>
            </a:r>
            <a:r>
              <a:rPr dirty="0" sz="2750" spc="20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to</a:t>
            </a:r>
            <a:r>
              <a:rPr dirty="0" sz="2750" spc="-30">
                <a:latin typeface="Calibri"/>
                <a:cs typeface="Calibri"/>
              </a:rPr>
              <a:t> </a:t>
            </a:r>
            <a:r>
              <a:rPr dirty="0" sz="2750" spc="85">
                <a:latin typeface="Calibri"/>
                <a:cs typeface="Calibri"/>
              </a:rPr>
              <a:t>detect </a:t>
            </a:r>
            <a:r>
              <a:rPr dirty="0" sz="2750" spc="85">
                <a:latin typeface="Calibri"/>
                <a:cs typeface="Calibri"/>
              </a:rPr>
              <a:t>	</a:t>
            </a:r>
            <a:r>
              <a:rPr dirty="0" sz="2750" spc="55">
                <a:latin typeface="Calibri"/>
                <a:cs typeface="Calibri"/>
              </a:rPr>
              <a:t>multivariate</a:t>
            </a:r>
            <a:r>
              <a:rPr dirty="0" sz="2750" spc="35">
                <a:latin typeface="Calibri"/>
                <a:cs typeface="Calibri"/>
              </a:rPr>
              <a:t> </a:t>
            </a:r>
            <a:r>
              <a:rPr dirty="0" sz="2750" spc="100">
                <a:latin typeface="Calibri"/>
                <a:cs typeface="Calibri"/>
              </a:rPr>
              <a:t>abnormal</a:t>
            </a:r>
            <a:r>
              <a:rPr dirty="0" sz="2750" spc="-50">
                <a:latin typeface="Calibri"/>
                <a:cs typeface="Calibri"/>
              </a:rPr>
              <a:t> </a:t>
            </a:r>
            <a:r>
              <a:rPr dirty="0" sz="2750" spc="85">
                <a:latin typeface="Calibri"/>
                <a:cs typeface="Calibri"/>
              </a:rPr>
              <a:t>observations.</a:t>
            </a:r>
            <a:endParaRPr sz="2750">
              <a:latin typeface="Calibri"/>
              <a:cs typeface="Calibri"/>
            </a:endParaRPr>
          </a:p>
          <a:p>
            <a:pPr marL="240029" marR="36830" indent="-227965">
              <a:lnSpc>
                <a:spcPts val="300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 spc="105">
                <a:latin typeface="Calibri"/>
                <a:cs typeface="Calibri"/>
              </a:rPr>
              <a:t>Detected</a:t>
            </a:r>
            <a:r>
              <a:rPr dirty="0" sz="2750" spc="35">
                <a:latin typeface="Calibri"/>
                <a:cs typeface="Calibri"/>
              </a:rPr>
              <a:t> </a:t>
            </a:r>
            <a:r>
              <a:rPr dirty="0" sz="2750" spc="120">
                <a:latin typeface="Calibri"/>
                <a:cs typeface="Calibri"/>
              </a:rPr>
              <a:t>anomalies</a:t>
            </a:r>
            <a:r>
              <a:rPr dirty="0" sz="2750" spc="1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were</a:t>
            </a:r>
            <a:r>
              <a:rPr dirty="0" sz="2750" spc="55">
                <a:latin typeface="Calibri"/>
                <a:cs typeface="Calibri"/>
              </a:rPr>
              <a:t> </a:t>
            </a:r>
            <a:r>
              <a:rPr dirty="0" sz="2750" spc="65">
                <a:latin typeface="Calibri"/>
                <a:cs typeface="Calibri"/>
              </a:rPr>
              <a:t>grouped</a:t>
            </a:r>
            <a:r>
              <a:rPr dirty="0" sz="2750" spc="35">
                <a:latin typeface="Calibri"/>
                <a:cs typeface="Calibri"/>
              </a:rPr>
              <a:t> </a:t>
            </a:r>
            <a:r>
              <a:rPr dirty="0" sz="2750" spc="120">
                <a:latin typeface="Calibri"/>
                <a:cs typeface="Calibri"/>
              </a:rPr>
              <a:t>based </a:t>
            </a:r>
            <a:r>
              <a:rPr dirty="0" sz="2750" spc="120">
                <a:latin typeface="Calibri"/>
                <a:cs typeface="Calibri"/>
              </a:rPr>
              <a:t>	</a:t>
            </a:r>
            <a:r>
              <a:rPr dirty="0" sz="2750" spc="90">
                <a:latin typeface="Calibri"/>
                <a:cs typeface="Calibri"/>
              </a:rPr>
              <a:t>on</a:t>
            </a:r>
            <a:r>
              <a:rPr dirty="0" sz="2750" spc="-5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their </a:t>
            </a:r>
            <a:r>
              <a:rPr dirty="0" sz="2750" spc="114">
                <a:latin typeface="Calibri"/>
                <a:cs typeface="Calibri"/>
              </a:rPr>
              <a:t>consecutive</a:t>
            </a:r>
            <a:r>
              <a:rPr dirty="0" sz="2750" spc="70">
                <a:latin typeface="Calibri"/>
                <a:cs typeface="Calibri"/>
              </a:rPr>
              <a:t> </a:t>
            </a:r>
            <a:r>
              <a:rPr dirty="0" sz="2750" spc="100">
                <a:latin typeface="Calibri"/>
                <a:cs typeface="Calibri"/>
              </a:rPr>
              <a:t>occurrence.</a:t>
            </a:r>
            <a:endParaRPr sz="2750">
              <a:latin typeface="Calibri"/>
              <a:cs typeface="Calibri"/>
            </a:endParaRPr>
          </a:p>
          <a:p>
            <a:pPr marL="240029" marR="50800" indent="-227965">
              <a:lnSpc>
                <a:spcPts val="3080"/>
              </a:lnSpc>
              <a:spcBef>
                <a:spcPts val="9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 spc="85">
                <a:latin typeface="Calibri"/>
                <a:cs typeface="Calibri"/>
              </a:rPr>
              <a:t>This</a:t>
            </a:r>
            <a:r>
              <a:rPr dirty="0" sz="2750" spc="-10">
                <a:latin typeface="Calibri"/>
                <a:cs typeface="Calibri"/>
              </a:rPr>
              <a:t> </a:t>
            </a:r>
            <a:r>
              <a:rPr dirty="0" sz="2750" spc="80">
                <a:latin typeface="Calibri"/>
                <a:cs typeface="Calibri"/>
              </a:rPr>
              <a:t>resulted</a:t>
            </a:r>
            <a:r>
              <a:rPr dirty="0" sz="2750" spc="-70">
                <a:latin typeface="Calibri"/>
                <a:cs typeface="Calibri"/>
              </a:rPr>
              <a:t> </a:t>
            </a:r>
            <a:r>
              <a:rPr dirty="0" sz="2750" spc="55">
                <a:latin typeface="Calibri"/>
                <a:cs typeface="Calibri"/>
              </a:rPr>
              <a:t>in</a:t>
            </a:r>
            <a:r>
              <a:rPr dirty="0" sz="2750" spc="30">
                <a:latin typeface="Calibri"/>
                <a:cs typeface="Calibri"/>
              </a:rPr>
              <a:t> </a:t>
            </a:r>
            <a:r>
              <a:rPr dirty="0" sz="2750" spc="75" b="1">
                <a:latin typeface="Calibri"/>
                <a:cs typeface="Calibri"/>
              </a:rPr>
              <a:t>577</a:t>
            </a:r>
            <a:r>
              <a:rPr dirty="0" sz="2750" b="1">
                <a:latin typeface="Calibri"/>
                <a:cs typeface="Calibri"/>
              </a:rPr>
              <a:t> </a:t>
            </a:r>
            <a:r>
              <a:rPr dirty="0" sz="2750" spc="145" b="1">
                <a:latin typeface="Calibri"/>
                <a:cs typeface="Calibri"/>
              </a:rPr>
              <a:t>abnormal</a:t>
            </a:r>
            <a:r>
              <a:rPr dirty="0" sz="2750" spc="-10" b="1">
                <a:latin typeface="Calibri"/>
                <a:cs typeface="Calibri"/>
              </a:rPr>
              <a:t> </a:t>
            </a:r>
            <a:r>
              <a:rPr dirty="0" sz="2750" spc="140" b="1">
                <a:latin typeface="Calibri"/>
                <a:cs typeface="Calibri"/>
              </a:rPr>
              <a:t>periods</a:t>
            </a:r>
            <a:r>
              <a:rPr dirty="0" sz="2750" spc="55" b="1">
                <a:latin typeface="Calibri"/>
                <a:cs typeface="Calibri"/>
              </a:rPr>
              <a:t> </a:t>
            </a:r>
            <a:r>
              <a:rPr dirty="0" sz="2750" spc="35">
                <a:latin typeface="Calibri"/>
                <a:cs typeface="Calibri"/>
              </a:rPr>
              <a:t>in </a:t>
            </a:r>
            <a:r>
              <a:rPr dirty="0" sz="2750" spc="35">
                <a:latin typeface="Calibri"/>
                <a:cs typeface="Calibri"/>
              </a:rPr>
              <a:t>	</a:t>
            </a:r>
            <a:r>
              <a:rPr dirty="0" sz="2750" spc="55">
                <a:latin typeface="Calibri"/>
                <a:cs typeface="Calibri"/>
              </a:rPr>
              <a:t>the</a:t>
            </a:r>
            <a:r>
              <a:rPr dirty="0" sz="2750" spc="-55">
                <a:latin typeface="Calibri"/>
                <a:cs typeface="Calibri"/>
              </a:rPr>
              <a:t> </a:t>
            </a:r>
            <a:r>
              <a:rPr dirty="0" sz="2750" spc="95">
                <a:latin typeface="Calibri"/>
                <a:cs typeface="Calibri"/>
              </a:rPr>
              <a:t>analyzed</a:t>
            </a:r>
            <a:r>
              <a:rPr dirty="0" sz="2750" spc="5">
                <a:latin typeface="Calibri"/>
                <a:cs typeface="Calibri"/>
              </a:rPr>
              <a:t> </a:t>
            </a:r>
            <a:r>
              <a:rPr dirty="0" sz="2750" spc="70">
                <a:latin typeface="Calibri"/>
                <a:cs typeface="Calibri"/>
              </a:rPr>
              <a:t>data.</a:t>
            </a:r>
            <a:endParaRPr sz="2750">
              <a:latin typeface="Calibri"/>
              <a:cs typeface="Calibri"/>
            </a:endParaRPr>
          </a:p>
          <a:p>
            <a:pPr marL="240029" marR="241935" indent="-227965">
              <a:lnSpc>
                <a:spcPct val="92200"/>
              </a:lnSpc>
              <a:spcBef>
                <a:spcPts val="86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750">
                <a:latin typeface="Calibri"/>
                <a:cs typeface="Calibri"/>
              </a:rPr>
              <a:t>The</a:t>
            </a:r>
            <a:r>
              <a:rPr dirty="0" sz="2750" spc="45">
                <a:latin typeface="Calibri"/>
                <a:cs typeface="Calibri"/>
              </a:rPr>
              <a:t> </a:t>
            </a:r>
            <a:r>
              <a:rPr dirty="0" sz="2750" spc="50">
                <a:latin typeface="Calibri"/>
                <a:cs typeface="Calibri"/>
              </a:rPr>
              <a:t>identified</a:t>
            </a:r>
            <a:r>
              <a:rPr dirty="0" sz="2750" spc="25">
                <a:latin typeface="Calibri"/>
                <a:cs typeface="Calibri"/>
              </a:rPr>
              <a:t> </a:t>
            </a:r>
            <a:r>
              <a:rPr dirty="0" sz="2750" spc="100">
                <a:latin typeface="Calibri"/>
                <a:cs typeface="Calibri"/>
              </a:rPr>
              <a:t>periods</a:t>
            </a:r>
            <a:r>
              <a:rPr dirty="0" sz="2750" spc="-65">
                <a:latin typeface="Calibri"/>
                <a:cs typeface="Calibri"/>
              </a:rPr>
              <a:t> </a:t>
            </a:r>
            <a:r>
              <a:rPr dirty="0" sz="2750" spc="190">
                <a:latin typeface="Calibri"/>
                <a:cs typeface="Calibri"/>
              </a:rPr>
              <a:t>can</a:t>
            </a:r>
            <a:r>
              <a:rPr dirty="0" sz="2750" spc="-25">
                <a:latin typeface="Calibri"/>
                <a:cs typeface="Calibri"/>
              </a:rPr>
              <a:t> </a:t>
            </a:r>
            <a:r>
              <a:rPr dirty="0" sz="2750" spc="90">
                <a:latin typeface="Calibri"/>
                <a:cs typeface="Calibri"/>
              </a:rPr>
              <a:t>help</a:t>
            </a:r>
            <a:r>
              <a:rPr dirty="0" sz="2750" spc="-50">
                <a:latin typeface="Calibri"/>
                <a:cs typeface="Calibri"/>
              </a:rPr>
              <a:t> </a:t>
            </a:r>
            <a:r>
              <a:rPr dirty="0" sz="2750" spc="35">
                <a:latin typeface="Calibri"/>
                <a:cs typeface="Calibri"/>
              </a:rPr>
              <a:t>highlight </a:t>
            </a:r>
            <a:r>
              <a:rPr dirty="0" sz="2750" spc="35">
                <a:latin typeface="Calibri"/>
                <a:cs typeface="Calibri"/>
              </a:rPr>
              <a:t>	</a:t>
            </a:r>
            <a:r>
              <a:rPr dirty="0" sz="2750" spc="175" b="1">
                <a:latin typeface="Calibri"/>
                <a:cs typeface="Calibri"/>
              </a:rPr>
              <a:t>unusual</a:t>
            </a:r>
            <a:r>
              <a:rPr dirty="0" sz="2750" spc="-95" b="1">
                <a:latin typeface="Calibri"/>
                <a:cs typeface="Calibri"/>
              </a:rPr>
              <a:t> </a:t>
            </a:r>
            <a:r>
              <a:rPr dirty="0" sz="2750" spc="225" b="1">
                <a:latin typeface="Calibri"/>
                <a:cs typeface="Calibri"/>
              </a:rPr>
              <a:t>process</a:t>
            </a:r>
            <a:r>
              <a:rPr dirty="0" sz="2750" spc="-35" b="1">
                <a:latin typeface="Calibri"/>
                <a:cs typeface="Calibri"/>
              </a:rPr>
              <a:t> </a:t>
            </a:r>
            <a:r>
              <a:rPr dirty="0" sz="2750" spc="110" b="1">
                <a:latin typeface="Calibri"/>
                <a:cs typeface="Calibri"/>
              </a:rPr>
              <a:t>behavior</a:t>
            </a:r>
            <a:r>
              <a:rPr dirty="0" sz="2750" spc="25" b="1">
                <a:latin typeface="Calibri"/>
                <a:cs typeface="Calibri"/>
              </a:rPr>
              <a:t> </a:t>
            </a:r>
            <a:r>
              <a:rPr dirty="0" sz="2750">
                <a:latin typeface="Calibri"/>
                <a:cs typeface="Calibri"/>
              </a:rPr>
              <a:t>for</a:t>
            </a:r>
            <a:r>
              <a:rPr dirty="0" sz="2750" spc="15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further </a:t>
            </a:r>
            <a:r>
              <a:rPr dirty="0" sz="2750" spc="-10">
                <a:latin typeface="Calibri"/>
                <a:cs typeface="Calibri"/>
              </a:rPr>
              <a:t>	</a:t>
            </a:r>
            <a:r>
              <a:rPr dirty="0" sz="2750" spc="45">
                <a:latin typeface="Calibri"/>
                <a:cs typeface="Calibri"/>
              </a:rPr>
              <a:t>investigation.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2026-10-07T04:15:21Z</dcterms:created>
  <dcterms:modified xsi:type="dcterms:W3CDTF">2026-10-07T04:15:21Z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2026-10-06T00:00:00Z</vt:filetime>
  </property>
  <property fmtid="{D5CDD505-2E9C-101B-9397-08002B2CF9AE}" pid="3" name="LastSaved">
    <vt:filetime>2026-10-07T00:00:00Z</vt:filetime>
  </property>
</Properties>
</file>